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87" r:id="rId2"/>
    <p:sldId id="264" r:id="rId3"/>
    <p:sldId id="277" r:id="rId4"/>
    <p:sldId id="276" r:id="rId5"/>
    <p:sldId id="280" r:id="rId6"/>
    <p:sldId id="281" r:id="rId7"/>
    <p:sldId id="282" r:id="rId8"/>
    <p:sldId id="283" r:id="rId9"/>
    <p:sldId id="284" r:id="rId10"/>
    <p:sldId id="278" r:id="rId11"/>
    <p:sldId id="288" r:id="rId12"/>
    <p:sldId id="289" r:id="rId13"/>
    <p:sldId id="290" r:id="rId14"/>
    <p:sldId id="292" r:id="rId15"/>
    <p:sldId id="291" r:id="rId16"/>
    <p:sldId id="285" r:id="rId17"/>
    <p:sldId id="286" r:id="rId18"/>
    <p:sldId id="279" r:id="rId19"/>
    <p:sldId id="257" r:id="rId20"/>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7153" autoAdjust="0"/>
  </p:normalViewPr>
  <p:slideViewPr>
    <p:cSldViewPr snapToGrid="0">
      <p:cViewPr varScale="1">
        <p:scale>
          <a:sx n="54" d="100"/>
          <a:sy n="54" d="100"/>
        </p:scale>
        <p:origin x="1230" y="7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庞门正道标题体"/>
              <a:ea typeface="庞门正道标题体"/>
              <a:cs typeface="庞门正道标题体"/>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庞门正道标题体"/>
              </a:rPr>
              <a:t>2025/12/10</a:t>
            </a:fld>
            <a:endParaRPr lang="zh-CN" altLang="en-US">
              <a:cs typeface="庞门正道标题体"/>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庞门正道标题体"/>
              <a:ea typeface="庞门正道标题体"/>
              <a:cs typeface="庞门正道标题体"/>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庞门正道标题体"/>
              </a:rPr>
              <a:t>‹#›</a:t>
            </a:fld>
            <a:endParaRPr lang="zh-CN" altLang="en-US">
              <a:cs typeface="庞门正道标题体"/>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庞门正道标题体"/>
                <a:ea typeface="庞门正道标题体"/>
                <a:cs typeface="庞门正道标题体"/>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庞门正道标题体"/>
                <a:ea typeface="庞门正道标题体"/>
                <a:cs typeface="庞门正道标题体"/>
              </a:defRPr>
            </a:lvl1pPr>
          </a:lstStyle>
          <a:p>
            <a:fld id="{D2A48B96-639E-45A3-A0BA-2464DFDB1FAA}" type="datetimeFigureOut">
              <a:rPr lang="zh-CN" altLang="en-US" smtClean="0"/>
              <a:t>2025/12/10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庞门正道标题体"/>
                <a:ea typeface="庞门正道标题体"/>
                <a:cs typeface="庞门正道标题体"/>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庞门正道标题体"/>
                <a:ea typeface="庞门正道标题体"/>
                <a:cs typeface="庞门正道标题体"/>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庞门正道标题体"/>
        <a:ea typeface="庞门正道标题体"/>
        <a:cs typeface="庞门正道标题体"/>
      </a:defRPr>
    </a:lvl1pPr>
    <a:lvl2pPr marL="457200" algn="l" defTabSz="914400" rtl="0" eaLnBrk="1" latinLnBrk="0" hangingPunct="1">
      <a:defRPr sz="1200" kern="1200">
        <a:solidFill>
          <a:schemeClr val="tx1"/>
        </a:solidFill>
        <a:latin typeface="庞门正道标题体"/>
        <a:ea typeface="庞门正道标题体"/>
        <a:cs typeface="庞门正道标题体"/>
      </a:defRPr>
    </a:lvl2pPr>
    <a:lvl3pPr marL="914400" algn="l" defTabSz="914400" rtl="0" eaLnBrk="1" latinLnBrk="0" hangingPunct="1">
      <a:defRPr sz="1200" kern="1200">
        <a:solidFill>
          <a:schemeClr val="tx1"/>
        </a:solidFill>
        <a:latin typeface="庞门正道标题体"/>
        <a:ea typeface="庞门正道标题体"/>
        <a:cs typeface="庞门正道标题体"/>
      </a:defRPr>
    </a:lvl3pPr>
    <a:lvl4pPr marL="1371600" algn="l" defTabSz="914400" rtl="0" eaLnBrk="1" latinLnBrk="0" hangingPunct="1">
      <a:defRPr sz="1200" kern="1200">
        <a:solidFill>
          <a:schemeClr val="tx1"/>
        </a:solidFill>
        <a:latin typeface="庞门正道标题体"/>
        <a:ea typeface="庞门正道标题体"/>
        <a:cs typeface="庞门正道标题体"/>
      </a:defRPr>
    </a:lvl4pPr>
    <a:lvl5pPr marL="1828800" algn="l" defTabSz="914400" rtl="0" eaLnBrk="1" latinLnBrk="0" hangingPunct="1">
      <a:defRPr sz="1200" kern="1200">
        <a:solidFill>
          <a:schemeClr val="tx1"/>
        </a:solidFill>
        <a:latin typeface="庞门正道标题体"/>
        <a:ea typeface="庞门正道标题体"/>
        <a:cs typeface="庞门正道标题体"/>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886060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811370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p>
          <a:p>
            <a:endParaRPr lang="en-US" altLang="zh-CN" dirty="0"/>
          </a:p>
          <a:p>
            <a:r>
              <a:rPr lang="en-US" altLang="zh-CN" dirty="0"/>
              <a:t>**</a:t>
            </a:r>
            <a:r>
              <a:rPr lang="zh-CN" altLang="en-US" dirty="0"/>
              <a:t>协议由语法、语义、同步（时序）三要素组成。**</a:t>
            </a:r>
          </a:p>
          <a:p>
            <a:endParaRPr lang="zh-CN" altLang="en-US" dirty="0"/>
          </a:p>
          <a:p>
            <a:r>
              <a:rPr lang="zh-CN" altLang="en-US" dirty="0"/>
              <a:t>**</a:t>
            </a:r>
            <a:r>
              <a:rPr lang="en-US" altLang="zh-CN" dirty="0"/>
              <a:t>1</a:t>
            </a:r>
            <a:r>
              <a:rPr lang="zh-CN" altLang="en-US" dirty="0"/>
              <a:t>）语法。** 数据与控制信息的格式。例如，</a:t>
            </a:r>
            <a:r>
              <a:rPr lang="en-US" altLang="zh-CN" dirty="0"/>
              <a:t>TCP </a:t>
            </a:r>
            <a:r>
              <a:rPr lang="zh-CN" altLang="en-US" dirty="0"/>
              <a:t>报文段格式就是由 </a:t>
            </a:r>
            <a:r>
              <a:rPr lang="en-US" altLang="zh-CN" dirty="0"/>
              <a:t>TCP </a:t>
            </a:r>
            <a:r>
              <a:rPr lang="zh-CN" altLang="en-US" dirty="0"/>
              <a:t>的语法定义的。  </a:t>
            </a:r>
          </a:p>
          <a:p>
            <a:r>
              <a:rPr lang="zh-CN" altLang="en-US" dirty="0"/>
              <a:t>**</a:t>
            </a:r>
            <a:r>
              <a:rPr lang="en-US" altLang="zh-CN" dirty="0"/>
              <a:t>2</a:t>
            </a:r>
            <a:r>
              <a:rPr lang="zh-CN" altLang="en-US" dirty="0"/>
              <a:t>）语义。** 即需要发出何种控制信息、完成何种动作及做出何种应答。例如，在建立 </a:t>
            </a:r>
            <a:r>
              <a:rPr lang="en-US" altLang="zh-CN" dirty="0"/>
              <a:t>TCP </a:t>
            </a:r>
            <a:r>
              <a:rPr lang="zh-CN" altLang="en-US" dirty="0"/>
              <a:t>连接时每次握手所执行的操作就是由 </a:t>
            </a:r>
            <a:r>
              <a:rPr lang="en-US" altLang="zh-CN" dirty="0"/>
              <a:t>TCP </a:t>
            </a:r>
            <a:r>
              <a:rPr lang="zh-CN" altLang="en-US" dirty="0"/>
              <a:t>的语义定义的。  </a:t>
            </a:r>
          </a:p>
          <a:p>
            <a:r>
              <a:rPr lang="zh-CN" altLang="en-US" dirty="0"/>
              <a:t>**</a:t>
            </a:r>
            <a:r>
              <a:rPr lang="en-US" altLang="zh-CN" dirty="0"/>
              <a:t>3</a:t>
            </a:r>
            <a:r>
              <a:rPr lang="zh-CN" altLang="en-US" dirty="0"/>
              <a:t>）同步（或时序）。** 执行各种操作的条件、时序关系等，即事件实现顺序的详细说明。例如，建立 </a:t>
            </a:r>
            <a:r>
              <a:rPr lang="en-US" altLang="zh-CN" dirty="0"/>
              <a:t>TCP </a:t>
            </a:r>
            <a:r>
              <a:rPr lang="zh-CN" altLang="en-US" dirty="0"/>
              <a:t>连接的三次握手操作的时序关系就是由 </a:t>
            </a:r>
            <a:r>
              <a:rPr lang="en-US" altLang="zh-CN" dirty="0"/>
              <a:t>TCP </a:t>
            </a:r>
            <a:r>
              <a:rPr lang="zh-CN" altLang="en-US" dirty="0"/>
              <a:t>的同步定义的。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2223748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传输层</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84101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CFBE-8707-80C8-E127-44AB06F383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8E8A4F-447A-054A-B39F-9EBA0C4424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0E6723-BC49-7919-B44B-C8B89BA7C9A2}"/>
              </a:ext>
            </a:extLst>
          </p:cNvPr>
          <p:cNvSpPr>
            <a:spLocks noGrp="1"/>
          </p:cNvSpPr>
          <p:nvPr>
            <p:ph type="body" idx="1"/>
          </p:nvPr>
        </p:nvSpPr>
        <p:spPr/>
        <p:txBody>
          <a:bodyPr/>
          <a:lstStyle/>
          <a:p>
            <a:r>
              <a:rPr lang="en-US" altLang="zh-CN" dirty="0"/>
              <a:t>B</a:t>
            </a:r>
          </a:p>
          <a:p>
            <a:endParaRPr lang="en-US" altLang="zh-CN" dirty="0"/>
          </a:p>
          <a:p>
            <a:r>
              <a:rPr lang="zh-CN" altLang="en-US" dirty="0"/>
              <a:t>就是表示层</a:t>
            </a:r>
            <a:endParaRPr lang="en-US" altLang="zh-CN" dirty="0"/>
          </a:p>
          <a:p>
            <a:endParaRPr lang="en-US" altLang="zh-CN" dirty="0"/>
          </a:p>
          <a:p>
            <a:r>
              <a:rPr lang="zh-CN" altLang="en-US" dirty="0"/>
              <a:t>**表示层**负责数据的编码、解码、加密、会话过程的解密和压缩，确保不同系统的数据格式能够正确转换与理解。  </a:t>
            </a:r>
          </a:p>
          <a:p>
            <a:r>
              <a:rPr lang="zh-CN" altLang="en-US" dirty="0"/>
              <a:t>**会话层**负责建立、管理和终止应用程序之间的通信会话，确保有序与同步。</a:t>
            </a:r>
            <a:r>
              <a:rPr lang="en-US" altLang="zh-CN" dirty="0"/>
              <a:t>	A</a:t>
            </a:r>
          </a:p>
          <a:p>
            <a:endParaRPr lang="en-US" altLang="zh-CN" dirty="0"/>
          </a:p>
          <a:p>
            <a:r>
              <a:rPr lang="zh-CN" altLang="en-US" dirty="0"/>
              <a:t>路由选择是网络层 </a:t>
            </a:r>
            <a:r>
              <a:rPr lang="en-US" altLang="zh-CN" dirty="0"/>
              <a:t>IP</a:t>
            </a:r>
            <a:r>
              <a:rPr lang="zh-CN" altLang="en-US" dirty="0"/>
              <a:t>层 </a:t>
            </a:r>
            <a:r>
              <a:rPr lang="en-US" altLang="zh-CN" dirty="0"/>
              <a:t>IP</a:t>
            </a:r>
            <a:r>
              <a:rPr lang="zh-CN" altLang="en-US" dirty="0"/>
              <a:t>层的主要目的就是路由选择</a:t>
            </a:r>
            <a:r>
              <a:rPr lang="en-US" altLang="zh-CN" dirty="0"/>
              <a:t>+</a:t>
            </a:r>
            <a:r>
              <a:rPr lang="zh-CN" altLang="en-US" dirty="0"/>
              <a:t>分组转发</a:t>
            </a:r>
            <a:br>
              <a:rPr lang="en-US" altLang="zh-CN" dirty="0"/>
            </a:br>
            <a:br>
              <a:rPr lang="en-US" altLang="zh-CN" dirty="0"/>
            </a:br>
            <a:r>
              <a:rPr lang="zh-CN" altLang="en-US" dirty="0"/>
              <a:t>可靠数据传输</a:t>
            </a:r>
            <a:br>
              <a:rPr lang="en-US" altLang="zh-CN" dirty="0"/>
            </a:br>
            <a:r>
              <a:rPr lang="en-US" altLang="zh-CN" dirty="0"/>
              <a:t>- </a:t>
            </a:r>
            <a:r>
              <a:rPr lang="zh-CN" altLang="en-US" dirty="0"/>
              <a:t>在</a:t>
            </a:r>
            <a:r>
              <a:rPr lang="en-US" altLang="zh-CN" dirty="0"/>
              <a:t>OSI</a:t>
            </a:r>
            <a:r>
              <a:rPr lang="zh-CN" altLang="en-US" dirty="0"/>
              <a:t>中 认为自底向上 </a:t>
            </a:r>
            <a:r>
              <a:rPr lang="zh-CN" altLang="en-US" b="1" dirty="0"/>
              <a:t>数据链路层</a:t>
            </a:r>
            <a:r>
              <a:rPr lang="zh-CN" altLang="en-US" dirty="0"/>
              <a:t>就可以提供可靠数据传输</a:t>
            </a:r>
            <a:endParaRPr lang="en-US" altLang="zh-CN" dirty="0"/>
          </a:p>
          <a:p>
            <a:r>
              <a:rPr lang="en-US" altLang="zh-CN" dirty="0"/>
              <a:t>- </a:t>
            </a:r>
            <a:r>
              <a:rPr lang="zh-CN" altLang="en-US" dirty="0"/>
              <a:t>实际中 </a:t>
            </a:r>
            <a:r>
              <a:rPr lang="en-US" altLang="zh-CN" dirty="0"/>
              <a:t>TCP/IP</a:t>
            </a:r>
            <a:r>
              <a:rPr lang="zh-CN" altLang="en-US" dirty="0"/>
              <a:t>中 只有传输层的一部分协议 比如</a:t>
            </a:r>
            <a:r>
              <a:rPr lang="en-US" altLang="zh-CN" dirty="0"/>
              <a:t>TCP</a:t>
            </a:r>
            <a:r>
              <a:rPr lang="zh-CN" altLang="en-US" dirty="0"/>
              <a:t>协议才能提供可靠数据传输</a:t>
            </a:r>
            <a:br>
              <a:rPr lang="en-US" altLang="zh-CN" dirty="0"/>
            </a:br>
            <a:endParaRPr lang="zh-CN" altLang="en-US" dirty="0"/>
          </a:p>
        </p:txBody>
      </p:sp>
      <p:sp>
        <p:nvSpPr>
          <p:cNvPr id="4" name="灯片编号占位符 3">
            <a:extLst>
              <a:ext uri="{FF2B5EF4-FFF2-40B4-BE49-F238E27FC236}">
                <a16:creationId xmlns:a16="http://schemas.microsoft.com/office/drawing/2014/main" id="{A6B2433D-3BF1-5C57-8B0F-7FE689815CF9}"/>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3072969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94B71-F506-FCB8-FB40-76BFCCC1D4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9BCEE9-41C7-55E8-DDF6-9B9ABCE6CC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A4B58B-71BF-2FE8-4C50-EB0ADF623A8A}"/>
              </a:ext>
            </a:extLst>
          </p:cNvPr>
          <p:cNvSpPr>
            <a:spLocks noGrp="1"/>
          </p:cNvSpPr>
          <p:nvPr>
            <p:ph type="body" idx="1"/>
          </p:nvPr>
        </p:nvSpPr>
        <p:spPr/>
        <p:txBody>
          <a:bodyPr/>
          <a:lstStyle/>
          <a:p>
            <a:r>
              <a:rPr lang="en-US" altLang="zh-CN" dirty="0"/>
              <a:t>C</a:t>
            </a:r>
            <a:endParaRPr lang="zh-CN" altLang="en-US" dirty="0"/>
          </a:p>
        </p:txBody>
      </p:sp>
      <p:sp>
        <p:nvSpPr>
          <p:cNvPr id="4" name="灯片编号占位符 3">
            <a:extLst>
              <a:ext uri="{FF2B5EF4-FFF2-40B4-BE49-F238E27FC236}">
                <a16:creationId xmlns:a16="http://schemas.microsoft.com/office/drawing/2014/main" id="{A24491D9-DC8A-21A9-C209-735AC3E50DAA}"/>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446540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5E014-7611-FBE3-C736-2AF6DF2AF4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F0BCE9-BEDB-2CB1-622E-A73F239A05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31FE03-6A63-D614-B1AA-F9462BD730D7}"/>
              </a:ext>
            </a:extLst>
          </p:cNvPr>
          <p:cNvSpPr>
            <a:spLocks noGrp="1"/>
          </p:cNvSpPr>
          <p:nvPr>
            <p:ph type="body" idx="1"/>
          </p:nvPr>
        </p:nvSpPr>
        <p:spPr/>
        <p:txBody>
          <a:bodyPr/>
          <a:lstStyle/>
          <a:p>
            <a:r>
              <a:rPr lang="zh-CN" altLang="en-US" dirty="0"/>
              <a:t>物理 数据链路 </a:t>
            </a:r>
            <a:r>
              <a:rPr lang="en-US" altLang="zh-CN" dirty="0"/>
              <a:t>IP </a:t>
            </a:r>
            <a:r>
              <a:rPr lang="zh-CN" altLang="en-US" dirty="0"/>
              <a:t>运输 </a:t>
            </a:r>
            <a:r>
              <a:rPr lang="en-US" altLang="zh-CN" dirty="0"/>
              <a:t>*</a:t>
            </a:r>
            <a:r>
              <a:rPr lang="zh-CN" altLang="en-US" dirty="0"/>
              <a:t>会话</a:t>
            </a:r>
            <a:r>
              <a:rPr lang="en-US" altLang="zh-CN" dirty="0"/>
              <a:t>*</a:t>
            </a:r>
            <a:r>
              <a:rPr lang="zh-CN" altLang="en-US" dirty="0"/>
              <a:t> 表示 应用</a:t>
            </a:r>
            <a:endParaRPr lang="en-US" altLang="zh-CN" dirty="0"/>
          </a:p>
          <a:p>
            <a:endParaRPr lang="en-US" altLang="zh-CN" dirty="0"/>
          </a:p>
          <a:p>
            <a:r>
              <a:rPr lang="en-US" altLang="zh-CN" dirty="0"/>
              <a:t>C</a:t>
            </a:r>
          </a:p>
          <a:p>
            <a:endParaRPr lang="en-US" altLang="zh-CN" dirty="0"/>
          </a:p>
          <a:p>
            <a:r>
              <a:rPr lang="zh-CN" altLang="en-US" dirty="0"/>
              <a:t>差错控制有很多层都可以完成 </a:t>
            </a:r>
            <a:r>
              <a:rPr lang="en-US" altLang="zh-CN" dirty="0"/>
              <a:t>: </a:t>
            </a:r>
            <a:r>
              <a:rPr lang="zh-CN" altLang="en-US" dirty="0"/>
              <a:t>数据链路层 网络层 传输层</a:t>
            </a:r>
          </a:p>
        </p:txBody>
      </p:sp>
      <p:sp>
        <p:nvSpPr>
          <p:cNvPr id="4" name="灯片编号占位符 3">
            <a:extLst>
              <a:ext uri="{FF2B5EF4-FFF2-40B4-BE49-F238E27FC236}">
                <a16:creationId xmlns:a16="http://schemas.microsoft.com/office/drawing/2014/main" id="{90FD970F-0DBC-BBBE-B14B-1791E34C2D51}"/>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855489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86E17-6059-580C-0701-CFBAD95591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C659D6-D704-3E32-EC26-F3734F2379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9F3A2D-6B2D-B2A4-FDBD-E574DFBC1F02}"/>
              </a:ext>
            </a:extLst>
          </p:cNvPr>
          <p:cNvSpPr>
            <a:spLocks noGrp="1"/>
          </p:cNvSpPr>
          <p:nvPr>
            <p:ph type="body" idx="1"/>
          </p:nvPr>
        </p:nvSpPr>
        <p:spPr/>
        <p:txBody>
          <a:bodyPr/>
          <a:lstStyle/>
          <a:p>
            <a:r>
              <a:rPr lang="zh-CN" altLang="en-US" dirty="0"/>
              <a:t>流量控制功能 </a:t>
            </a:r>
            <a:r>
              <a:rPr lang="en-US" altLang="zh-CN" dirty="0"/>
              <a:t>: </a:t>
            </a:r>
            <a:r>
              <a:rPr lang="zh-CN" altLang="en-US" dirty="0"/>
              <a:t>链路层</a:t>
            </a:r>
            <a:r>
              <a:rPr lang="en-US" altLang="zh-CN" dirty="0"/>
              <a:t>+</a:t>
            </a:r>
            <a:r>
              <a:rPr lang="zh-CN" altLang="en-US" dirty="0"/>
              <a:t>传输层 </a:t>
            </a:r>
            <a:r>
              <a:rPr lang="en-US" altLang="zh-CN" dirty="0"/>
              <a:t>! </a:t>
            </a:r>
          </a:p>
          <a:p>
            <a:r>
              <a:rPr lang="en-US" altLang="zh-CN" dirty="0"/>
              <a:t>IP</a:t>
            </a:r>
            <a:r>
              <a:rPr lang="zh-CN" altLang="en-US" dirty="0"/>
              <a:t>层网络层根本不提供流量控制功能</a:t>
            </a:r>
            <a:endParaRPr lang="en-US" altLang="zh-CN" dirty="0"/>
          </a:p>
          <a:p>
            <a:endParaRPr lang="en-US" altLang="zh-CN" dirty="0"/>
          </a:p>
          <a:p>
            <a:r>
              <a:rPr lang="zh-CN" altLang="en-US" dirty="0"/>
              <a:t>这里说是两个节点 选</a:t>
            </a:r>
            <a:r>
              <a:rPr lang="en-US" altLang="zh-CN" dirty="0"/>
              <a:t>B</a:t>
            </a:r>
            <a:endParaRPr lang="zh-CN" altLang="en-US" dirty="0"/>
          </a:p>
        </p:txBody>
      </p:sp>
      <p:sp>
        <p:nvSpPr>
          <p:cNvPr id="4" name="灯片编号占位符 3">
            <a:extLst>
              <a:ext uri="{FF2B5EF4-FFF2-40B4-BE49-F238E27FC236}">
                <a16:creationId xmlns:a16="http://schemas.microsoft.com/office/drawing/2014/main" id="{E99436F0-005A-0AF1-48BF-A6CC426E2996}"/>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552912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F1658-F12C-0D62-2E17-78A1F1A4D1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2804F9-B8F7-EAAB-24CE-48195FB5A6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880255-771C-9FEE-266C-62E6BDFE92A1}"/>
              </a:ext>
            </a:extLst>
          </p:cNvPr>
          <p:cNvSpPr>
            <a:spLocks noGrp="1"/>
          </p:cNvSpPr>
          <p:nvPr>
            <p:ph type="body" idx="1"/>
          </p:nvPr>
        </p:nvSpPr>
        <p:spPr/>
        <p:txBody>
          <a:bodyPr/>
          <a:lstStyle/>
          <a:p>
            <a:r>
              <a:rPr lang="en-US" altLang="zh-CN" dirty="0"/>
              <a:t>R1 </a:t>
            </a:r>
            <a:r>
              <a:rPr lang="zh-CN" altLang="en-US" dirty="0"/>
              <a:t>路由器 </a:t>
            </a:r>
            <a:r>
              <a:rPr lang="en-US" altLang="zh-CN" dirty="0"/>
              <a:t>IP</a:t>
            </a:r>
          </a:p>
          <a:p>
            <a:endParaRPr lang="en-US" altLang="zh-CN" dirty="0"/>
          </a:p>
          <a:p>
            <a:r>
              <a:rPr lang="zh-CN" altLang="en-US" dirty="0"/>
              <a:t>数据链路层</a:t>
            </a:r>
            <a:endParaRPr lang="en-US" altLang="zh-CN" dirty="0"/>
          </a:p>
          <a:p>
            <a:endParaRPr lang="en-US" altLang="zh-CN" dirty="0"/>
          </a:p>
          <a:p>
            <a:r>
              <a:rPr lang="zh-CN" altLang="en-US" dirty="0"/>
              <a:t>物理层</a:t>
            </a:r>
            <a:endParaRPr lang="en-US" altLang="zh-CN" dirty="0"/>
          </a:p>
          <a:p>
            <a:endParaRPr lang="en-US" altLang="zh-CN" dirty="0"/>
          </a:p>
          <a:p>
            <a:r>
              <a:rPr lang="en-US" altLang="zh-CN" dirty="0"/>
              <a:t>A</a:t>
            </a:r>
            <a:endParaRPr lang="zh-CN" altLang="en-US" dirty="0"/>
          </a:p>
        </p:txBody>
      </p:sp>
      <p:sp>
        <p:nvSpPr>
          <p:cNvPr id="4" name="灯片编号占位符 3">
            <a:extLst>
              <a:ext uri="{FF2B5EF4-FFF2-40B4-BE49-F238E27FC236}">
                <a16:creationId xmlns:a16="http://schemas.microsoft.com/office/drawing/2014/main" id="{22C8D297-31D2-2C61-7086-764EF3FC1CF7}"/>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414925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6DCFB-7BAD-DB51-8D60-3B8502C7A7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88354F-18C9-B4CF-0FFB-506F1C9E17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6B7626-45EA-005B-CD9F-3CC38204C02F}"/>
              </a:ext>
            </a:extLst>
          </p:cNvPr>
          <p:cNvSpPr>
            <a:spLocks noGrp="1"/>
          </p:cNvSpPr>
          <p:nvPr>
            <p:ph type="body" idx="1"/>
          </p:nvPr>
        </p:nvSpPr>
        <p:spPr/>
        <p:txBody>
          <a:bodyPr/>
          <a:lstStyle/>
          <a:p>
            <a:r>
              <a:rPr lang="en-US" altLang="zh-CN" dirty="0"/>
              <a:t>PDU = SDU + PCI </a:t>
            </a:r>
          </a:p>
          <a:p>
            <a:r>
              <a:rPr lang="en-US" altLang="zh-CN" dirty="0"/>
              <a:t>SDU</a:t>
            </a:r>
            <a:r>
              <a:rPr lang="zh-CN" altLang="en-US" dirty="0"/>
              <a:t>更正确的说法是 有效载荷 </a:t>
            </a:r>
            <a:r>
              <a:rPr lang="en-US" altLang="zh-CN" dirty="0"/>
              <a:t>(</a:t>
            </a:r>
            <a:r>
              <a:rPr lang="zh-CN" altLang="en-US" dirty="0"/>
              <a:t>有效载荷一定对 但是</a:t>
            </a:r>
            <a:r>
              <a:rPr lang="en-US" altLang="zh-CN" dirty="0"/>
              <a:t>SDU</a:t>
            </a:r>
            <a:r>
              <a:rPr lang="zh-CN" altLang="en-US" dirty="0"/>
              <a:t>是指上一层提供给下一层的数据 可能会被分片</a:t>
            </a:r>
            <a:r>
              <a:rPr lang="en-US" altLang="zh-CN" dirty="0"/>
              <a:t>)</a:t>
            </a:r>
          </a:p>
          <a:p>
            <a:endParaRPr lang="en-US" altLang="zh-CN" sz="1200" b="1" i="0" kern="1200" dirty="0">
              <a:solidFill>
                <a:schemeClr val="tx1"/>
              </a:solidFill>
              <a:effectLst/>
              <a:latin typeface="庞门正道标题体"/>
            </a:endParaRPr>
          </a:p>
          <a:p>
            <a:r>
              <a:rPr lang="en-US" altLang="zh-CN" sz="1200" b="1" kern="1200" dirty="0">
                <a:solidFill>
                  <a:schemeClr val="tx1"/>
                </a:solidFill>
                <a:effectLst/>
                <a:latin typeface="庞门正道标题体"/>
                <a:ea typeface="庞门正道标题体"/>
                <a:cs typeface="庞门正道标题体"/>
              </a:rPr>
              <a:t>1. SDU</a:t>
            </a:r>
            <a:r>
              <a:rPr lang="zh-CN" altLang="en-US" sz="1200" b="1" kern="1200" dirty="0">
                <a:solidFill>
                  <a:schemeClr val="tx1"/>
                </a:solidFill>
                <a:effectLst/>
                <a:latin typeface="庞门正道标题体"/>
                <a:ea typeface="庞门正道标题体"/>
                <a:cs typeface="庞门正道标题体"/>
              </a:rPr>
              <a:t>（服务数据单元 </a:t>
            </a:r>
            <a:r>
              <a:rPr lang="en-US" altLang="zh-CN" sz="1200" b="1" kern="1200" dirty="0">
                <a:solidFill>
                  <a:schemeClr val="tx1"/>
                </a:solidFill>
                <a:effectLst/>
                <a:latin typeface="庞门正道标题体"/>
                <a:ea typeface="庞门正道标题体"/>
                <a:cs typeface="庞门正道标题体"/>
              </a:rPr>
              <a:t>| Service Data Unit</a:t>
            </a:r>
            <a:r>
              <a:rPr lang="zh-CN" altLang="en-US" sz="1200" b="1" kern="1200" dirty="0">
                <a:solidFill>
                  <a:schemeClr val="tx1"/>
                </a:solidFill>
                <a:effectLst/>
                <a:latin typeface="庞门正道标题体"/>
                <a:ea typeface="庞门正道标题体"/>
                <a:cs typeface="庞门正道标题体"/>
              </a:rPr>
              <a:t>）</a:t>
            </a:r>
          </a:p>
          <a:p>
            <a:r>
              <a:rPr lang="zh-CN" altLang="en-US" sz="1200" b="1" i="0" kern="1200" dirty="0">
                <a:solidFill>
                  <a:schemeClr val="tx1"/>
                </a:solidFill>
                <a:effectLst/>
                <a:latin typeface="庞门正道标题体"/>
                <a:ea typeface="庞门正道标题体"/>
                <a:cs typeface="庞门正道标题体"/>
              </a:rPr>
              <a:t>中文理解</a:t>
            </a:r>
            <a:r>
              <a:rPr lang="zh-CN" altLang="en-US" sz="1200" b="0" i="0" kern="1200" dirty="0">
                <a:solidFill>
                  <a:schemeClr val="tx1"/>
                </a:solidFill>
                <a:effectLst/>
                <a:latin typeface="庞门正道标题体"/>
                <a:ea typeface="庞门正道标题体"/>
                <a:cs typeface="庞门正道标题体"/>
              </a:rPr>
              <a:t>：从</a:t>
            </a:r>
            <a:r>
              <a:rPr lang="zh-CN" altLang="en-US" sz="1200" b="1" i="0" kern="1200" dirty="0">
                <a:solidFill>
                  <a:schemeClr val="tx1"/>
                </a:solidFill>
                <a:effectLst/>
                <a:latin typeface="庞门正道标题体"/>
                <a:ea typeface="庞门正道标题体"/>
                <a:cs typeface="庞门正道标题体"/>
              </a:rPr>
              <a:t>上一层</a:t>
            </a:r>
            <a:r>
              <a:rPr lang="zh-CN" altLang="en-US" sz="1200" b="0" i="0" kern="1200" dirty="0">
                <a:solidFill>
                  <a:schemeClr val="tx1"/>
                </a:solidFill>
                <a:effectLst/>
                <a:latin typeface="庞门正道标题体"/>
                <a:ea typeface="庞门正道标题体"/>
                <a:cs typeface="庞门正道标题体"/>
              </a:rPr>
              <a:t>接收到的、需要本层传输的</a:t>
            </a:r>
            <a:r>
              <a:rPr lang="zh-CN" altLang="en-US" sz="1200" b="1" i="0" kern="1200" dirty="0">
                <a:solidFill>
                  <a:schemeClr val="tx1"/>
                </a:solidFill>
                <a:effectLst/>
                <a:latin typeface="庞门正道标题体"/>
                <a:ea typeface="庞门正道标题体"/>
                <a:cs typeface="庞门正道标题体"/>
              </a:rPr>
              <a:t>完整数据块</a:t>
            </a:r>
            <a:r>
              <a:rPr lang="zh-CN" altLang="en-US" sz="1200" b="0" i="0" kern="1200" dirty="0">
                <a:solidFill>
                  <a:schemeClr val="tx1"/>
                </a:solidFill>
                <a:effectLst/>
                <a:latin typeface="庞门正道标题体"/>
                <a:ea typeface="庞门正道标题体"/>
                <a:cs typeface="庞门正道标题体"/>
              </a:rPr>
              <a:t>。你可以把它看作是需要本层“运送”的“货物本身”。</a:t>
            </a:r>
          </a:p>
          <a:p>
            <a:r>
              <a:rPr lang="zh-CN" altLang="en-US" sz="1200" b="1" i="0" kern="1200" dirty="0">
                <a:solidFill>
                  <a:schemeClr val="tx1"/>
                </a:solidFill>
                <a:effectLst/>
                <a:latin typeface="庞门正道标题体"/>
                <a:ea typeface="庞门正道标题体"/>
                <a:cs typeface="庞门正道标题体"/>
              </a:rPr>
              <a:t>本质</a:t>
            </a:r>
            <a:r>
              <a:rPr lang="zh-CN" altLang="en-US" sz="1200" b="0" i="0" kern="1200" dirty="0">
                <a:solidFill>
                  <a:schemeClr val="tx1"/>
                </a:solidFill>
                <a:effectLst/>
                <a:latin typeface="庞门正道标题体"/>
                <a:ea typeface="庞门正道标题体"/>
                <a:cs typeface="庞门正道标题体"/>
              </a:rPr>
              <a:t>：对本层来说，</a:t>
            </a:r>
            <a:r>
              <a:rPr lang="en-US" altLang="zh-CN" sz="1200" b="0" i="0" kern="1200" dirty="0">
                <a:solidFill>
                  <a:schemeClr val="tx1"/>
                </a:solidFill>
                <a:effectLst/>
                <a:latin typeface="庞门正道标题体"/>
                <a:ea typeface="庞门正道标题体"/>
                <a:cs typeface="庞门正道标题体"/>
              </a:rPr>
              <a:t>SDU</a:t>
            </a:r>
            <a:r>
              <a:rPr lang="zh-CN" altLang="en-US" sz="1200" b="0" i="0" kern="1200" dirty="0">
                <a:solidFill>
                  <a:schemeClr val="tx1"/>
                </a:solidFill>
                <a:effectLst/>
                <a:latin typeface="庞门正道标题体"/>
                <a:ea typeface="庞门正道标题体"/>
                <a:cs typeface="庞门正道标题体"/>
              </a:rPr>
              <a:t>是</a:t>
            </a:r>
            <a:r>
              <a:rPr lang="zh-CN" altLang="en-US" sz="1200" b="1" i="0" kern="1200" dirty="0">
                <a:solidFill>
                  <a:schemeClr val="tx1"/>
                </a:solidFill>
                <a:effectLst/>
                <a:latin typeface="庞门正道标题体"/>
                <a:ea typeface="庞门正道标题体"/>
                <a:cs typeface="庞门正道标题体"/>
              </a:rPr>
              <a:t>透明的</a:t>
            </a:r>
            <a:r>
              <a:rPr lang="en-US" altLang="zh-CN" sz="1200" b="0" i="0" kern="1200" dirty="0">
                <a:solidFill>
                  <a:schemeClr val="tx1"/>
                </a:solidFill>
                <a:effectLst/>
                <a:latin typeface="庞门正道标题体"/>
                <a:ea typeface="庞门正道标题体"/>
                <a:cs typeface="庞门正道标题体"/>
              </a:rPr>
              <a:t>——</a:t>
            </a:r>
            <a:r>
              <a:rPr lang="zh-CN" altLang="en-US" sz="1200" b="0" i="0" kern="1200" dirty="0">
                <a:solidFill>
                  <a:schemeClr val="tx1"/>
                </a:solidFill>
                <a:effectLst/>
                <a:latin typeface="庞门正道标题体"/>
                <a:ea typeface="庞门正道标题体"/>
                <a:cs typeface="庞门正道标题体"/>
              </a:rPr>
              <a:t>本层不关心</a:t>
            </a:r>
            <a:r>
              <a:rPr lang="en-US" altLang="zh-CN" sz="1200" b="0" i="0" kern="1200" dirty="0">
                <a:solidFill>
                  <a:schemeClr val="tx1"/>
                </a:solidFill>
                <a:effectLst/>
                <a:latin typeface="庞门正道标题体"/>
                <a:ea typeface="庞门正道标题体"/>
                <a:cs typeface="庞门正道标题体"/>
              </a:rPr>
              <a:t>SDU</a:t>
            </a:r>
            <a:r>
              <a:rPr lang="zh-CN" altLang="en-US" sz="1200" b="0" i="0" kern="1200" dirty="0">
                <a:solidFill>
                  <a:schemeClr val="tx1"/>
                </a:solidFill>
                <a:effectLst/>
                <a:latin typeface="庞门正道标题体"/>
                <a:ea typeface="庞门正道标题体"/>
                <a:cs typeface="庞门正道标题体"/>
              </a:rPr>
              <a:t>的内部细节，只负责将其完整地交付给下一层（对等层）。</a:t>
            </a:r>
          </a:p>
          <a:p>
            <a:r>
              <a:rPr lang="zh-CN" altLang="en-US" sz="1200" b="1" i="0" kern="1200" dirty="0">
                <a:solidFill>
                  <a:schemeClr val="tx1"/>
                </a:solidFill>
                <a:effectLst/>
                <a:latin typeface="庞门正道标题体"/>
                <a:ea typeface="庞门正道标题体"/>
                <a:cs typeface="庞门正道标题体"/>
              </a:rPr>
              <a:t>举例</a:t>
            </a:r>
            <a:r>
              <a:rPr lang="zh-CN" altLang="en-US" sz="1200" b="0" i="0" kern="1200" dirty="0">
                <a:solidFill>
                  <a:schemeClr val="tx1"/>
                </a:solidFill>
                <a:effectLst/>
                <a:latin typeface="庞门正道标题体"/>
                <a:ea typeface="庞门正道标题体"/>
                <a:cs typeface="庞门正道标题体"/>
              </a:rPr>
              <a:t>：在传输层，应用层传来的一个</a:t>
            </a:r>
            <a:r>
              <a:rPr lang="en-US" altLang="zh-CN" sz="1200" b="0" i="0" kern="1200" dirty="0">
                <a:solidFill>
                  <a:schemeClr val="tx1"/>
                </a:solidFill>
                <a:effectLst/>
                <a:latin typeface="庞门正道标题体"/>
                <a:ea typeface="庞门正道标题体"/>
                <a:cs typeface="庞门正道标题体"/>
              </a:rPr>
              <a:t>HTTP</a:t>
            </a:r>
            <a:r>
              <a:rPr lang="zh-CN" altLang="en-US" sz="1200" b="0" i="0" kern="1200" dirty="0">
                <a:solidFill>
                  <a:schemeClr val="tx1"/>
                </a:solidFill>
                <a:effectLst/>
                <a:latin typeface="庞门正道标题体"/>
                <a:ea typeface="庞门正道标题体"/>
                <a:cs typeface="庞门正道标题体"/>
              </a:rPr>
              <a:t>请求报文，就是这个传输层实体的</a:t>
            </a:r>
            <a:r>
              <a:rPr lang="en-US" altLang="zh-CN" sz="1200" b="1" i="0" kern="1200" dirty="0">
                <a:solidFill>
                  <a:schemeClr val="tx1"/>
                </a:solidFill>
                <a:effectLst/>
                <a:latin typeface="庞门正道标题体"/>
                <a:ea typeface="庞门正道标题体"/>
                <a:cs typeface="庞门正道标题体"/>
              </a:rPr>
              <a:t>SDU</a:t>
            </a:r>
            <a:r>
              <a:rPr lang="zh-CN" altLang="en-US" sz="1200" b="0" i="0" kern="1200" dirty="0">
                <a:solidFill>
                  <a:schemeClr val="tx1"/>
                </a:solidFill>
                <a:effectLst/>
                <a:latin typeface="庞门正道标题体"/>
                <a:ea typeface="庞门正道标题体"/>
                <a:cs typeface="庞门正道标题体"/>
              </a:rPr>
              <a:t>。</a:t>
            </a:r>
          </a:p>
          <a:p>
            <a:r>
              <a:rPr lang="en-US" altLang="zh-CN" sz="1200" b="1" kern="1200" dirty="0">
                <a:solidFill>
                  <a:schemeClr val="tx1"/>
                </a:solidFill>
                <a:effectLst/>
                <a:latin typeface="庞门正道标题体"/>
                <a:ea typeface="庞门正道标题体"/>
                <a:cs typeface="庞门正道标题体"/>
              </a:rPr>
              <a:t>2. PCI</a:t>
            </a:r>
            <a:r>
              <a:rPr lang="zh-CN" altLang="en-US" sz="1200" b="1" kern="1200" dirty="0">
                <a:solidFill>
                  <a:schemeClr val="tx1"/>
                </a:solidFill>
                <a:effectLst/>
                <a:latin typeface="庞门正道标题体"/>
                <a:ea typeface="庞门正道标题体"/>
                <a:cs typeface="庞门正道标题体"/>
              </a:rPr>
              <a:t>（协议控制信息 </a:t>
            </a:r>
            <a:r>
              <a:rPr lang="en-US" altLang="zh-CN" sz="1200" b="1" kern="1200" dirty="0">
                <a:solidFill>
                  <a:schemeClr val="tx1"/>
                </a:solidFill>
                <a:effectLst/>
                <a:latin typeface="庞门正道标题体"/>
                <a:ea typeface="庞门正道标题体"/>
                <a:cs typeface="庞门正道标题体"/>
              </a:rPr>
              <a:t>| Protocol Control Information</a:t>
            </a:r>
            <a:r>
              <a:rPr lang="zh-CN" altLang="en-US" sz="1200" b="1" kern="1200" dirty="0">
                <a:solidFill>
                  <a:schemeClr val="tx1"/>
                </a:solidFill>
                <a:effectLst/>
                <a:latin typeface="庞门正道标题体"/>
                <a:ea typeface="庞门正道标题体"/>
                <a:cs typeface="庞门正道标题体"/>
              </a:rPr>
              <a:t>）</a:t>
            </a:r>
          </a:p>
          <a:p>
            <a:r>
              <a:rPr lang="zh-CN" altLang="en-US" sz="1200" b="1" i="0" kern="1200" dirty="0">
                <a:solidFill>
                  <a:schemeClr val="tx1"/>
                </a:solidFill>
                <a:effectLst/>
                <a:latin typeface="庞门正道标题体"/>
                <a:ea typeface="庞门正道标题体"/>
                <a:cs typeface="庞门正道标题体"/>
              </a:rPr>
              <a:t>中文理解</a:t>
            </a:r>
            <a:r>
              <a:rPr lang="zh-CN" altLang="en-US" sz="1200" b="0" i="0" kern="1200" dirty="0">
                <a:solidFill>
                  <a:schemeClr val="tx1"/>
                </a:solidFill>
                <a:effectLst/>
                <a:latin typeface="庞门正道标题体"/>
                <a:ea typeface="庞门正道标题体"/>
                <a:cs typeface="庞门正道标题体"/>
              </a:rPr>
              <a:t>：</a:t>
            </a:r>
            <a:r>
              <a:rPr lang="zh-CN" altLang="en-US" sz="1200" b="1" i="0" kern="1200" dirty="0">
                <a:solidFill>
                  <a:schemeClr val="tx1"/>
                </a:solidFill>
                <a:effectLst/>
                <a:latin typeface="庞门正道标题体"/>
                <a:ea typeface="庞门正道标题体"/>
                <a:cs typeface="庞门正道标题体"/>
              </a:rPr>
              <a:t>本层</a:t>
            </a:r>
            <a:r>
              <a:rPr lang="zh-CN" altLang="en-US" sz="1200" b="0" i="0" kern="1200" dirty="0">
                <a:solidFill>
                  <a:schemeClr val="tx1"/>
                </a:solidFill>
                <a:effectLst/>
                <a:latin typeface="庞门正道标题体"/>
                <a:ea typeface="庞门正道标题体"/>
                <a:cs typeface="庞门正道标题体"/>
              </a:rPr>
              <a:t>为了完成自己的工作而</a:t>
            </a:r>
            <a:r>
              <a:rPr lang="zh-CN" altLang="en-US" sz="1200" b="1" i="0" kern="1200" dirty="0">
                <a:solidFill>
                  <a:schemeClr val="tx1"/>
                </a:solidFill>
                <a:effectLst/>
                <a:latin typeface="庞门正道标题体"/>
                <a:ea typeface="庞门正道标题体"/>
                <a:cs typeface="庞门正道标题体"/>
              </a:rPr>
              <a:t>添加的“控制头”</a:t>
            </a:r>
            <a:r>
              <a:rPr lang="zh-CN" altLang="en-US" sz="1200" b="0" i="0" kern="1200" dirty="0">
                <a:solidFill>
                  <a:schemeClr val="tx1"/>
                </a:solidFill>
                <a:effectLst/>
                <a:latin typeface="庞门正道标题体"/>
                <a:ea typeface="庞门正道标题体"/>
                <a:cs typeface="庞门正道标题体"/>
              </a:rPr>
              <a:t>。它包含了让对等层实体能够正确理解和处理这个数据包所必需的全部信息。</a:t>
            </a:r>
          </a:p>
          <a:p>
            <a:r>
              <a:rPr lang="zh-CN" altLang="en-US" sz="1200" b="1" i="0" kern="1200" dirty="0">
                <a:solidFill>
                  <a:schemeClr val="tx1"/>
                </a:solidFill>
                <a:effectLst/>
                <a:latin typeface="庞门正道标题体"/>
                <a:ea typeface="庞门正道标题体"/>
                <a:cs typeface="庞门正道标题体"/>
              </a:rPr>
              <a:t>本质</a:t>
            </a:r>
            <a:r>
              <a:rPr lang="zh-CN" altLang="en-US" sz="1200" b="0" i="0" kern="1200" dirty="0">
                <a:solidFill>
                  <a:schemeClr val="tx1"/>
                </a:solidFill>
                <a:effectLst/>
                <a:latin typeface="庞门正道标题体"/>
                <a:ea typeface="庞门正道标题体"/>
                <a:cs typeface="庞门正道标题体"/>
              </a:rPr>
              <a:t>：这是</a:t>
            </a:r>
            <a:r>
              <a:rPr lang="zh-CN" altLang="en-US" sz="1200" b="1" i="0" kern="1200" dirty="0">
                <a:solidFill>
                  <a:schemeClr val="tx1"/>
                </a:solidFill>
                <a:effectLst/>
                <a:latin typeface="庞门正道标题体"/>
                <a:ea typeface="庞门正道标题体"/>
                <a:cs typeface="庞门正道标题体"/>
              </a:rPr>
              <a:t>本层协议的核心</a:t>
            </a:r>
            <a:r>
              <a:rPr lang="zh-CN" altLang="en-US" sz="1200" b="0" i="0" kern="1200" dirty="0">
                <a:solidFill>
                  <a:schemeClr val="tx1"/>
                </a:solidFill>
                <a:effectLst/>
                <a:latin typeface="庞门正道标题体"/>
                <a:ea typeface="庞门正道标题体"/>
                <a:cs typeface="庞门正道标题体"/>
              </a:rPr>
              <a:t>。包含了地址、端口、序列号、校验和、标志位等控制指令。</a:t>
            </a:r>
          </a:p>
          <a:p>
            <a:r>
              <a:rPr lang="zh-CN" altLang="en-US" sz="1200" b="1" i="0" kern="1200" dirty="0">
                <a:solidFill>
                  <a:schemeClr val="tx1"/>
                </a:solidFill>
                <a:effectLst/>
                <a:latin typeface="庞门正道标题体"/>
                <a:ea typeface="庞门正道标题体"/>
                <a:cs typeface="庞门正道标题体"/>
              </a:rPr>
              <a:t>举例</a:t>
            </a:r>
            <a:r>
              <a:rPr lang="zh-CN" altLang="en-US" sz="1200" b="0" i="0" kern="1200" dirty="0">
                <a:solidFill>
                  <a:schemeClr val="tx1"/>
                </a:solidFill>
                <a:effectLst/>
                <a:latin typeface="庞门正道标题体"/>
                <a:ea typeface="庞门正道标题体"/>
                <a:cs typeface="庞门正道标题体"/>
              </a:rPr>
              <a:t>：在</a:t>
            </a:r>
            <a:r>
              <a:rPr lang="en-US" altLang="zh-CN" sz="1200" b="0" i="0" kern="1200" dirty="0">
                <a:solidFill>
                  <a:schemeClr val="tx1"/>
                </a:solidFill>
                <a:effectLst/>
                <a:latin typeface="庞门正道标题体"/>
                <a:ea typeface="庞门正道标题体"/>
                <a:cs typeface="庞门正道标题体"/>
              </a:rPr>
              <a:t>TCP</a:t>
            </a:r>
            <a:r>
              <a:rPr lang="zh-CN" altLang="en-US" sz="1200" b="0" i="0" kern="1200" dirty="0">
                <a:solidFill>
                  <a:schemeClr val="tx1"/>
                </a:solidFill>
                <a:effectLst/>
                <a:latin typeface="庞门正道标题体"/>
                <a:ea typeface="庞门正道标题体"/>
                <a:cs typeface="庞门正道标题体"/>
              </a:rPr>
              <a:t>段中，源</a:t>
            </a:r>
            <a:r>
              <a:rPr lang="en-US" altLang="zh-CN" sz="1200" b="0" i="0" kern="1200" dirty="0">
                <a:solidFill>
                  <a:schemeClr val="tx1"/>
                </a:solidFill>
                <a:effectLst/>
                <a:latin typeface="庞门正道标题体"/>
                <a:ea typeface="庞门正道标题体"/>
                <a:cs typeface="庞门正道标题体"/>
              </a:rPr>
              <a:t>/</a:t>
            </a:r>
            <a:r>
              <a:rPr lang="zh-CN" altLang="en-US" sz="1200" b="0" i="0" kern="1200" dirty="0">
                <a:solidFill>
                  <a:schemeClr val="tx1"/>
                </a:solidFill>
                <a:effectLst/>
                <a:latin typeface="庞门正道标题体"/>
                <a:ea typeface="庞门正道标题体"/>
                <a:cs typeface="庞门正道标题体"/>
              </a:rPr>
              <a:t>目的端口号、序列号、确认号、窗口大小、标志位（</a:t>
            </a:r>
            <a:r>
              <a:rPr lang="en-US" altLang="zh-CN" sz="1200" b="0" i="0" kern="1200" dirty="0">
                <a:solidFill>
                  <a:schemeClr val="tx1"/>
                </a:solidFill>
                <a:effectLst/>
                <a:latin typeface="庞门正道标题体"/>
                <a:ea typeface="庞门正道标题体"/>
                <a:cs typeface="庞门正道标题体"/>
              </a:rPr>
              <a:t>SYN</a:t>
            </a:r>
            <a:r>
              <a:rPr lang="zh-CN" altLang="en-US" sz="1200" b="0" i="0" kern="1200" dirty="0">
                <a:solidFill>
                  <a:schemeClr val="tx1"/>
                </a:solidFill>
                <a:effectLst/>
                <a:latin typeface="庞门正道标题体"/>
                <a:ea typeface="庞门正道标题体"/>
                <a:cs typeface="庞门正道标题体"/>
              </a:rPr>
              <a:t>， </a:t>
            </a:r>
            <a:r>
              <a:rPr lang="en-US" altLang="zh-CN" sz="1200" b="0" i="0" kern="1200" dirty="0">
                <a:solidFill>
                  <a:schemeClr val="tx1"/>
                </a:solidFill>
                <a:effectLst/>
                <a:latin typeface="庞门正道标题体"/>
                <a:ea typeface="庞门正道标题体"/>
                <a:cs typeface="庞门正道标题体"/>
              </a:rPr>
              <a:t>ACK</a:t>
            </a:r>
            <a:r>
              <a:rPr lang="zh-CN" altLang="en-US" sz="1200" b="0" i="0" kern="1200" dirty="0">
                <a:solidFill>
                  <a:schemeClr val="tx1"/>
                </a:solidFill>
                <a:effectLst/>
                <a:latin typeface="庞门正道标题体"/>
                <a:ea typeface="庞门正道标题体"/>
                <a:cs typeface="庞门正道标题体"/>
              </a:rPr>
              <a:t>等）等</a:t>
            </a:r>
            <a:r>
              <a:rPr lang="en-US" altLang="zh-CN" sz="1200" b="0" i="0" kern="1200" dirty="0">
                <a:solidFill>
                  <a:schemeClr val="tx1"/>
                </a:solidFill>
                <a:effectLst/>
                <a:latin typeface="庞门正道标题体"/>
                <a:ea typeface="庞门正道标题体"/>
                <a:cs typeface="庞门正道标题体"/>
              </a:rPr>
              <a:t>TCP</a:t>
            </a:r>
            <a:r>
              <a:rPr lang="zh-CN" altLang="en-US" sz="1200" b="0" i="0" kern="1200" dirty="0">
                <a:solidFill>
                  <a:schemeClr val="tx1"/>
                </a:solidFill>
                <a:effectLst/>
                <a:latin typeface="庞门正道标题体"/>
                <a:ea typeface="庞门正道标题体"/>
                <a:cs typeface="庞门正道标题体"/>
              </a:rPr>
              <a:t>头部信息，就是</a:t>
            </a:r>
            <a:r>
              <a:rPr lang="en-US" altLang="zh-CN" sz="1200" b="1" i="0" kern="1200" dirty="0">
                <a:solidFill>
                  <a:schemeClr val="tx1"/>
                </a:solidFill>
                <a:effectLst/>
                <a:latin typeface="庞门正道标题体"/>
                <a:ea typeface="庞门正道标题体"/>
                <a:cs typeface="庞门正道标题体"/>
              </a:rPr>
              <a:t>PCI</a:t>
            </a:r>
            <a:r>
              <a:rPr lang="zh-CN" altLang="en-US" sz="1200" b="0" i="0" kern="1200" dirty="0">
                <a:solidFill>
                  <a:schemeClr val="tx1"/>
                </a:solidFill>
                <a:effectLst/>
                <a:latin typeface="庞门正道标题体"/>
                <a:ea typeface="庞门正道标题体"/>
                <a:cs typeface="庞门正道标题体"/>
              </a:rPr>
              <a:t>。</a:t>
            </a:r>
          </a:p>
          <a:p>
            <a:r>
              <a:rPr lang="en-US" altLang="zh-CN" sz="1200" b="1" kern="1200" dirty="0">
                <a:solidFill>
                  <a:schemeClr val="tx1"/>
                </a:solidFill>
                <a:effectLst/>
                <a:latin typeface="庞门正道标题体"/>
                <a:ea typeface="庞门正道标题体"/>
                <a:cs typeface="庞门正道标题体"/>
              </a:rPr>
              <a:t>3. PDU</a:t>
            </a:r>
            <a:r>
              <a:rPr lang="zh-CN" altLang="en-US" sz="1200" b="1" kern="1200" dirty="0">
                <a:solidFill>
                  <a:schemeClr val="tx1"/>
                </a:solidFill>
                <a:effectLst/>
                <a:latin typeface="庞门正道标题体"/>
                <a:ea typeface="庞门正道标题体"/>
                <a:cs typeface="庞门正道标题体"/>
              </a:rPr>
              <a:t>（协议数据单元 </a:t>
            </a:r>
            <a:r>
              <a:rPr lang="en-US" altLang="zh-CN" sz="1200" b="1" kern="1200" dirty="0">
                <a:solidFill>
                  <a:schemeClr val="tx1"/>
                </a:solidFill>
                <a:effectLst/>
                <a:latin typeface="庞门正道标题体"/>
                <a:ea typeface="庞门正道标题体"/>
                <a:cs typeface="庞门正道标题体"/>
              </a:rPr>
              <a:t>| Protocol Data Unit</a:t>
            </a:r>
            <a:r>
              <a:rPr lang="zh-CN" altLang="en-US" sz="1200" b="1" kern="1200" dirty="0">
                <a:solidFill>
                  <a:schemeClr val="tx1"/>
                </a:solidFill>
                <a:effectLst/>
                <a:latin typeface="庞门正道标题体"/>
                <a:ea typeface="庞门正道标题体"/>
                <a:cs typeface="庞门正道标题体"/>
              </a:rPr>
              <a:t>）</a:t>
            </a:r>
          </a:p>
          <a:p>
            <a:r>
              <a:rPr lang="zh-CN" altLang="en-US" sz="1200" b="1" i="0" kern="1200" dirty="0">
                <a:solidFill>
                  <a:schemeClr val="tx1"/>
                </a:solidFill>
                <a:effectLst/>
                <a:latin typeface="庞门正道标题体"/>
                <a:ea typeface="庞门正道标题体"/>
                <a:cs typeface="庞门正道标题体"/>
              </a:rPr>
              <a:t>中文理解</a:t>
            </a:r>
            <a:r>
              <a:rPr lang="zh-CN" altLang="en-US" sz="1200" b="0" i="0" kern="1200" dirty="0">
                <a:solidFill>
                  <a:schemeClr val="tx1"/>
                </a:solidFill>
                <a:effectLst/>
                <a:latin typeface="庞门正道标题体"/>
                <a:ea typeface="庞门正道标题体"/>
                <a:cs typeface="庞门正道标题体"/>
              </a:rPr>
              <a:t>：</a:t>
            </a:r>
            <a:r>
              <a:rPr lang="zh-CN" altLang="en-US" sz="1200" b="1" i="0" kern="1200" dirty="0">
                <a:solidFill>
                  <a:schemeClr val="tx1"/>
                </a:solidFill>
                <a:effectLst/>
                <a:latin typeface="庞门正道标题体"/>
                <a:ea typeface="庞门正道标题体"/>
                <a:cs typeface="庞门正道标题体"/>
              </a:rPr>
              <a:t>本层</a:t>
            </a:r>
            <a:r>
              <a:rPr lang="zh-CN" altLang="en-US" sz="1200" b="0" i="0" kern="1200" dirty="0">
                <a:solidFill>
                  <a:schemeClr val="tx1"/>
                </a:solidFill>
                <a:effectLst/>
                <a:latin typeface="庞门正道标题体"/>
                <a:ea typeface="庞门正道标题体"/>
                <a:cs typeface="庞门正道标题体"/>
              </a:rPr>
              <a:t>封装完成后，准备交给</a:t>
            </a:r>
            <a:r>
              <a:rPr lang="zh-CN" altLang="en-US" sz="1200" b="1" i="0" kern="1200" dirty="0">
                <a:solidFill>
                  <a:schemeClr val="tx1"/>
                </a:solidFill>
                <a:effectLst/>
                <a:latin typeface="庞门正道标题体"/>
                <a:ea typeface="庞门正道标题体"/>
                <a:cs typeface="庞门正道标题体"/>
              </a:rPr>
              <a:t>下一层</a:t>
            </a:r>
            <a:r>
              <a:rPr lang="zh-CN" altLang="en-US" sz="1200" b="0" i="0" kern="1200" dirty="0">
                <a:solidFill>
                  <a:schemeClr val="tx1"/>
                </a:solidFill>
                <a:effectLst/>
                <a:latin typeface="庞门正道标题体"/>
                <a:ea typeface="庞门正道标题体"/>
                <a:cs typeface="庞门正道标题体"/>
              </a:rPr>
              <a:t>的</a:t>
            </a:r>
            <a:r>
              <a:rPr lang="zh-CN" altLang="en-US" sz="1200" b="1" i="0" kern="1200" dirty="0">
                <a:solidFill>
                  <a:schemeClr val="tx1"/>
                </a:solidFill>
                <a:effectLst/>
                <a:latin typeface="庞门正道标题体"/>
                <a:ea typeface="庞门正道标题体"/>
                <a:cs typeface="庞门正道标题体"/>
              </a:rPr>
              <a:t>完整数据包</a:t>
            </a:r>
            <a:r>
              <a:rPr lang="zh-CN" altLang="en-US" sz="1200" b="0" i="0" kern="1200" dirty="0">
                <a:solidFill>
                  <a:schemeClr val="tx1"/>
                </a:solidFill>
                <a:effectLst/>
                <a:latin typeface="庞门正道标题体"/>
                <a:ea typeface="庞门正道标题体"/>
                <a:cs typeface="庞门正道标题体"/>
              </a:rPr>
              <a:t>。它是本层工作的“最终产品”。</a:t>
            </a:r>
          </a:p>
          <a:p>
            <a:r>
              <a:rPr lang="zh-CN" altLang="en-US" sz="1200" b="1" i="0" kern="1200" dirty="0">
                <a:solidFill>
                  <a:schemeClr val="tx1"/>
                </a:solidFill>
                <a:effectLst/>
                <a:latin typeface="庞门正道标题体"/>
                <a:ea typeface="庞门正道标题体"/>
                <a:cs typeface="庞门正道标题体"/>
              </a:rPr>
              <a:t>本质</a:t>
            </a:r>
            <a:r>
              <a:rPr lang="zh-CN" altLang="en-US" sz="1200" b="0" i="0" kern="1200" dirty="0">
                <a:solidFill>
                  <a:schemeClr val="tx1"/>
                </a:solidFill>
                <a:effectLst/>
                <a:latin typeface="庞门正道标题体"/>
                <a:ea typeface="庞门正道标题体"/>
                <a:cs typeface="庞门正道标题体"/>
              </a:rPr>
              <a:t>：</a:t>
            </a:r>
            <a:r>
              <a:rPr lang="zh-CN" altLang="en-US" sz="1200" b="1" i="0" kern="1200" dirty="0">
                <a:solidFill>
                  <a:schemeClr val="tx1"/>
                </a:solidFill>
                <a:effectLst/>
                <a:latin typeface="庞门正道标题体"/>
                <a:ea typeface="庞门正道标题体"/>
                <a:cs typeface="庞门正道标题体"/>
              </a:rPr>
              <a:t>本层的</a:t>
            </a:r>
            <a:r>
              <a:rPr lang="en-US" altLang="zh-CN" sz="1200" b="1" i="0" kern="1200" dirty="0">
                <a:solidFill>
                  <a:schemeClr val="tx1"/>
                </a:solidFill>
                <a:effectLst/>
                <a:latin typeface="庞门正道标题体"/>
                <a:ea typeface="庞门正道标题体"/>
                <a:cs typeface="庞门正道标题体"/>
              </a:rPr>
              <a:t>PDU = </a:t>
            </a:r>
            <a:r>
              <a:rPr lang="zh-CN" altLang="en-US" sz="1200" b="1" i="0" kern="1200" dirty="0">
                <a:solidFill>
                  <a:schemeClr val="tx1"/>
                </a:solidFill>
                <a:effectLst/>
                <a:latin typeface="庞门正道标题体"/>
                <a:ea typeface="庞门正道标题体"/>
                <a:cs typeface="庞门正道标题体"/>
              </a:rPr>
              <a:t>本层的</a:t>
            </a:r>
            <a:r>
              <a:rPr lang="en-US" altLang="zh-CN" sz="1200" b="1" i="0" kern="1200" dirty="0">
                <a:solidFill>
                  <a:schemeClr val="tx1"/>
                </a:solidFill>
                <a:effectLst/>
                <a:latin typeface="庞门正道标题体"/>
                <a:ea typeface="庞门正道标题体"/>
                <a:cs typeface="庞门正道标题体"/>
              </a:rPr>
              <a:t>PCI + </a:t>
            </a:r>
            <a:r>
              <a:rPr lang="zh-CN" altLang="en-US" sz="1200" b="1" i="0" kern="1200" dirty="0">
                <a:solidFill>
                  <a:schemeClr val="tx1"/>
                </a:solidFill>
                <a:effectLst/>
                <a:latin typeface="庞门正道标题体"/>
                <a:ea typeface="庞门正道标题体"/>
                <a:cs typeface="庞门正道标题体"/>
              </a:rPr>
              <a:t>本层的</a:t>
            </a:r>
            <a:r>
              <a:rPr lang="en-US" altLang="zh-CN" sz="1200" b="1" i="0" kern="1200" dirty="0">
                <a:solidFill>
                  <a:schemeClr val="tx1"/>
                </a:solidFill>
                <a:effectLst/>
                <a:latin typeface="庞门正道标题体"/>
                <a:ea typeface="庞门正道标题体"/>
                <a:cs typeface="庞门正道标题体"/>
              </a:rPr>
              <a:t>SDU</a:t>
            </a:r>
            <a:r>
              <a:rPr lang="zh-CN" altLang="en-US" sz="1200" b="0" i="0" kern="1200" dirty="0">
                <a:solidFill>
                  <a:schemeClr val="tx1"/>
                </a:solidFill>
                <a:effectLst/>
                <a:latin typeface="庞门正道标题体"/>
                <a:ea typeface="庞门正道标题体"/>
                <a:cs typeface="庞门正道标题体"/>
              </a:rPr>
              <a:t>。而这个“本层的</a:t>
            </a:r>
            <a:r>
              <a:rPr lang="en-US" altLang="zh-CN" sz="1200" b="0" i="0" kern="1200" dirty="0">
                <a:solidFill>
                  <a:schemeClr val="tx1"/>
                </a:solidFill>
                <a:effectLst/>
                <a:latin typeface="庞门正道标题体"/>
                <a:ea typeface="庞门正道标题体"/>
                <a:cs typeface="庞门正道标题体"/>
              </a:rPr>
              <a:t>SDU”</a:t>
            </a:r>
            <a:r>
              <a:rPr lang="zh-CN" altLang="en-US" sz="1200" b="0" i="0" kern="1200" dirty="0">
                <a:solidFill>
                  <a:schemeClr val="tx1"/>
                </a:solidFill>
                <a:effectLst/>
                <a:latin typeface="庞门正道标题体"/>
                <a:ea typeface="庞门正道标题体"/>
                <a:cs typeface="庞门正道标题体"/>
              </a:rPr>
              <a:t>，恰恰就是</a:t>
            </a:r>
            <a:r>
              <a:rPr lang="zh-CN" altLang="en-US" sz="1200" b="1" i="0" kern="1200" dirty="0">
                <a:solidFill>
                  <a:schemeClr val="tx1"/>
                </a:solidFill>
                <a:effectLst/>
                <a:latin typeface="庞门正道标题体"/>
                <a:ea typeface="庞门正道标题体"/>
                <a:cs typeface="庞门正道标题体"/>
              </a:rPr>
              <a:t>上一层的完整</a:t>
            </a:r>
            <a:r>
              <a:rPr lang="en-US" altLang="zh-CN" sz="1200" b="1" i="0" kern="1200" dirty="0">
                <a:solidFill>
                  <a:schemeClr val="tx1"/>
                </a:solidFill>
                <a:effectLst/>
                <a:latin typeface="庞门正道标题体"/>
                <a:ea typeface="庞门正道标题体"/>
                <a:cs typeface="庞门正道标题体"/>
              </a:rPr>
              <a:t>PDU</a:t>
            </a:r>
            <a:r>
              <a:rPr lang="zh-CN" altLang="en-US" sz="1200" b="0" i="0" kern="1200" dirty="0">
                <a:solidFill>
                  <a:schemeClr val="tx1"/>
                </a:solidFill>
                <a:effectLst/>
                <a:latin typeface="庞门正道标题体"/>
                <a:ea typeface="庞门正道标题体"/>
                <a:cs typeface="庞门正道标题体"/>
              </a:rPr>
              <a:t>。</a:t>
            </a:r>
          </a:p>
          <a:p>
            <a:r>
              <a:rPr lang="zh-CN" altLang="en-US" sz="1200" b="1" i="0" kern="1200" dirty="0">
                <a:solidFill>
                  <a:schemeClr val="tx1"/>
                </a:solidFill>
                <a:effectLst/>
                <a:latin typeface="庞门正道标题体"/>
                <a:ea typeface="庞门正道标题体"/>
                <a:cs typeface="庞门正道标题体"/>
              </a:rPr>
              <a:t>举例</a:t>
            </a:r>
            <a:r>
              <a:rPr lang="zh-CN" altLang="en-US" sz="1200" b="0" i="0" kern="1200" dirty="0">
                <a:solidFill>
                  <a:schemeClr val="tx1"/>
                </a:solidFill>
                <a:effectLst/>
                <a:latin typeface="庞门正道标题体"/>
                <a:ea typeface="庞门正道标题体"/>
                <a:cs typeface="庞门正道标题体"/>
              </a:rPr>
              <a:t>：一个完整的</a:t>
            </a:r>
            <a:r>
              <a:rPr lang="en-US" altLang="zh-CN" sz="1200" b="0" i="0" kern="1200" dirty="0">
                <a:solidFill>
                  <a:schemeClr val="tx1"/>
                </a:solidFill>
                <a:effectLst/>
                <a:latin typeface="庞门正道标题体"/>
                <a:ea typeface="庞门正道标题体"/>
                <a:cs typeface="庞门正道标题体"/>
              </a:rPr>
              <a:t>TCP</a:t>
            </a:r>
            <a:r>
              <a:rPr lang="zh-CN" altLang="en-US" sz="1200" b="0" i="0" kern="1200" dirty="0">
                <a:solidFill>
                  <a:schemeClr val="tx1"/>
                </a:solidFill>
                <a:effectLst/>
                <a:latin typeface="庞门正道标题体"/>
                <a:ea typeface="庞门正道标题体"/>
                <a:cs typeface="庞门正道标题体"/>
              </a:rPr>
              <a:t>段（包含</a:t>
            </a:r>
            <a:r>
              <a:rPr lang="en-US" altLang="zh-CN" sz="1200" b="0" i="0" kern="1200" dirty="0">
                <a:solidFill>
                  <a:schemeClr val="tx1"/>
                </a:solidFill>
                <a:effectLst/>
                <a:latin typeface="庞门正道标题体"/>
                <a:ea typeface="庞门正道标题体"/>
                <a:cs typeface="庞门正道标题体"/>
              </a:rPr>
              <a:t>TCP</a:t>
            </a:r>
            <a:r>
              <a:rPr lang="zh-CN" altLang="en-US" sz="1200" b="0" i="0" kern="1200" dirty="0">
                <a:solidFill>
                  <a:schemeClr val="tx1"/>
                </a:solidFill>
                <a:effectLst/>
                <a:latin typeface="庞门正道标题体"/>
                <a:ea typeface="庞门正道标题体"/>
                <a:cs typeface="庞门正道标题体"/>
              </a:rPr>
              <a:t>头部和数据部分）就是传输层的</a:t>
            </a:r>
            <a:r>
              <a:rPr lang="en-US" altLang="zh-CN" sz="1200" b="0" i="0" kern="1200" dirty="0">
                <a:solidFill>
                  <a:schemeClr val="tx1"/>
                </a:solidFill>
                <a:effectLst/>
                <a:latin typeface="庞门正道标题体"/>
                <a:ea typeface="庞门正道标题体"/>
                <a:cs typeface="庞门正道标题体"/>
              </a:rPr>
              <a:t>PDU</a:t>
            </a:r>
            <a:r>
              <a:rPr lang="zh-CN" altLang="en-US" sz="1200" b="0" i="0" kern="1200" dirty="0">
                <a:solidFill>
                  <a:schemeClr val="tx1"/>
                </a:solidFill>
                <a:effectLst/>
                <a:latin typeface="庞门正道标题体"/>
                <a:ea typeface="庞门正道标题体"/>
                <a:cs typeface="庞门正道标题体"/>
              </a:rPr>
              <a:t>。这个</a:t>
            </a:r>
            <a:r>
              <a:rPr lang="en-US" altLang="zh-CN" sz="1200" b="0" i="0" kern="1200" dirty="0">
                <a:solidFill>
                  <a:schemeClr val="tx1"/>
                </a:solidFill>
                <a:effectLst/>
                <a:latin typeface="庞门正道标题体"/>
                <a:ea typeface="庞门正道标题体"/>
                <a:cs typeface="庞门正道标题体"/>
              </a:rPr>
              <a:t>PDU</a:t>
            </a:r>
            <a:r>
              <a:rPr lang="zh-CN" altLang="en-US" sz="1200" b="0" i="0" kern="1200" dirty="0">
                <a:solidFill>
                  <a:schemeClr val="tx1"/>
                </a:solidFill>
                <a:effectLst/>
                <a:latin typeface="庞门正道标题体"/>
                <a:ea typeface="庞门正道标题体"/>
                <a:cs typeface="庞门正道标题体"/>
              </a:rPr>
              <a:t>会被交给网络层，成为网络层的</a:t>
            </a:r>
            <a:r>
              <a:rPr lang="en-US" altLang="zh-CN" sz="1200" b="0" i="0" kern="1200" dirty="0">
                <a:solidFill>
                  <a:schemeClr val="tx1"/>
                </a:solidFill>
                <a:effectLst/>
                <a:latin typeface="庞门正道标题体"/>
                <a:ea typeface="庞门正道标题体"/>
                <a:cs typeface="庞门正道标题体"/>
              </a:rPr>
              <a:t>SDU</a:t>
            </a:r>
            <a:r>
              <a:rPr lang="zh-CN" altLang="en-US" sz="1200" b="0" i="0" kern="1200" dirty="0">
                <a:solidFill>
                  <a:schemeClr val="tx1"/>
                </a:solidFill>
                <a:effectLst/>
                <a:latin typeface="庞门正道标题体"/>
                <a:ea typeface="庞门正道标题体"/>
                <a:cs typeface="庞门正道标题体"/>
              </a:rPr>
              <a:t>。</a:t>
            </a:r>
          </a:p>
          <a:p>
            <a:endParaRPr lang="zh-CN" altLang="en-US" dirty="0"/>
          </a:p>
        </p:txBody>
      </p:sp>
      <p:sp>
        <p:nvSpPr>
          <p:cNvPr id="4" name="灯片编号占位符 3">
            <a:extLst>
              <a:ext uri="{FF2B5EF4-FFF2-40B4-BE49-F238E27FC236}">
                <a16:creationId xmlns:a16="http://schemas.microsoft.com/office/drawing/2014/main" id="{B3C6C41C-9E04-9DA6-4C31-BF5097619892}"/>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64152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4AFD6-DE49-47A1-AB55-C92FBC4407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1BA70A-5F8C-D5DC-72D8-3A09BDE792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84294B-EC94-32F4-0356-E30E7BCE8654}"/>
              </a:ext>
            </a:extLst>
          </p:cNvPr>
          <p:cNvSpPr>
            <a:spLocks noGrp="1"/>
          </p:cNvSpPr>
          <p:nvPr>
            <p:ph type="body" idx="1"/>
          </p:nvPr>
        </p:nvSpPr>
        <p:spPr/>
        <p:txBody>
          <a:bodyPr/>
          <a:lstStyle/>
          <a:p>
            <a:r>
              <a:rPr lang="en-US" altLang="zh-CN" dirty="0"/>
              <a:t>A</a:t>
            </a:r>
          </a:p>
          <a:p>
            <a:endParaRPr lang="en-US" altLang="zh-CN" dirty="0"/>
          </a:p>
          <a:p>
            <a:r>
              <a:rPr lang="zh-CN" altLang="en-US" dirty="0"/>
              <a:t>交换技术可以分为 </a:t>
            </a:r>
            <a:r>
              <a:rPr lang="en-US" altLang="zh-CN" dirty="0"/>
              <a:t>:</a:t>
            </a:r>
          </a:p>
          <a:p>
            <a:pPr marL="171450" indent="-171450">
              <a:buFontTx/>
              <a:buChar char="-"/>
            </a:pPr>
            <a:r>
              <a:rPr lang="zh-CN" altLang="en-US" dirty="0"/>
              <a:t>电路交换  </a:t>
            </a:r>
            <a:r>
              <a:rPr lang="en-US" altLang="zh-CN" dirty="0"/>
              <a:t>(</a:t>
            </a:r>
            <a:r>
              <a:rPr lang="zh-CN" altLang="en-US" dirty="0"/>
              <a:t>需要建立连接</a:t>
            </a:r>
            <a:r>
              <a:rPr lang="en-US" altLang="zh-CN" dirty="0"/>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zh-CN" altLang="en-US" dirty="0"/>
              <a:t>报文交换 </a:t>
            </a:r>
            <a:r>
              <a:rPr lang="en-US" altLang="zh-CN" dirty="0"/>
              <a:t>(</a:t>
            </a:r>
            <a:r>
              <a:rPr lang="zh-CN" altLang="en-US" dirty="0"/>
              <a:t>不需要建立连接</a:t>
            </a:r>
            <a:r>
              <a:rPr lang="en-US" altLang="zh-CN" dirty="0"/>
              <a:t>)</a:t>
            </a:r>
          </a:p>
          <a:p>
            <a:pPr marL="171450" indent="-171450">
              <a:buFontTx/>
              <a:buChar char="-"/>
            </a:pPr>
            <a:r>
              <a:rPr lang="zh-CN" altLang="en-US" dirty="0"/>
              <a:t>分组交换 </a:t>
            </a:r>
            <a:r>
              <a:rPr lang="en-US" altLang="zh-CN" dirty="0"/>
              <a:t>(</a:t>
            </a:r>
            <a:r>
              <a:rPr lang="zh-CN" altLang="en-US" dirty="0"/>
              <a:t>不需要建立连接</a:t>
            </a:r>
            <a:r>
              <a:rPr lang="en-US" altLang="zh-CN" dirty="0"/>
              <a:t>)</a:t>
            </a:r>
          </a:p>
          <a:p>
            <a:pPr marL="628650" lvl="1" indent="-171450">
              <a:buFontTx/>
              <a:buChar char="-"/>
            </a:pPr>
            <a:r>
              <a:rPr lang="zh-CN" altLang="en-US" dirty="0"/>
              <a:t>数据报服务 无连接不可靠 </a:t>
            </a:r>
            <a:r>
              <a:rPr lang="en-US" altLang="zh-CN" dirty="0"/>
              <a:t>(</a:t>
            </a:r>
            <a:r>
              <a:rPr lang="zh-CN" altLang="en-US" dirty="0"/>
              <a:t>现实中</a:t>
            </a:r>
            <a:r>
              <a:rPr lang="en-US" altLang="zh-CN" dirty="0"/>
              <a:t>)</a:t>
            </a:r>
          </a:p>
          <a:p>
            <a:pPr marL="628650" lvl="1" indent="-171450">
              <a:buFontTx/>
              <a:buChar char="-"/>
            </a:pPr>
            <a:r>
              <a:rPr lang="zh-CN" altLang="en-US" dirty="0"/>
              <a:t>虚电路服务 </a:t>
            </a:r>
            <a:r>
              <a:rPr lang="en-US" altLang="zh-CN" dirty="0"/>
              <a:t>(</a:t>
            </a:r>
            <a:r>
              <a:rPr lang="zh-CN" altLang="en-US" dirty="0"/>
              <a:t>需要建立连接</a:t>
            </a:r>
            <a:r>
              <a:rPr lang="en-US" altLang="zh-CN" dirty="0"/>
              <a:t>)</a:t>
            </a:r>
            <a:endParaRPr lang="zh-CN" altLang="en-US" dirty="0"/>
          </a:p>
        </p:txBody>
      </p:sp>
      <p:sp>
        <p:nvSpPr>
          <p:cNvPr id="4" name="灯片编号占位符 3">
            <a:extLst>
              <a:ext uri="{FF2B5EF4-FFF2-40B4-BE49-F238E27FC236}">
                <a16:creationId xmlns:a16="http://schemas.microsoft.com/office/drawing/2014/main" id="{1BA7F9E0-6CF2-CB72-4922-E3CE402775A8}"/>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843003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9FEC-9BD0-8FFC-F174-1376918BAA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C5FC9C-7A07-107A-8534-6F26323767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E35948-64B8-A771-CBE4-012E879A3804}"/>
              </a:ext>
            </a:extLst>
          </p:cNvPr>
          <p:cNvSpPr>
            <a:spLocks noGrp="1"/>
          </p:cNvSpPr>
          <p:nvPr>
            <p:ph type="body" idx="1"/>
          </p:nvPr>
        </p:nvSpPr>
        <p:spPr/>
        <p:txBody>
          <a:bodyPr/>
          <a:lstStyle/>
          <a:p>
            <a:r>
              <a:rPr lang="en-US" altLang="zh-CN" dirty="0"/>
              <a:t>B</a:t>
            </a:r>
          </a:p>
          <a:p>
            <a:endParaRPr lang="en-US" altLang="zh-CN" dirty="0"/>
          </a:p>
          <a:p>
            <a:pPr marL="228600" indent="-228600">
              <a:buAutoNum type="arabicPeriod"/>
            </a:pPr>
            <a:r>
              <a:rPr lang="zh-CN" altLang="en-US" dirty="0"/>
              <a:t>对话管理由应用层实现 会话层合并到应用层</a:t>
            </a:r>
            <a:endParaRPr lang="en-US" altLang="zh-CN" dirty="0"/>
          </a:p>
          <a:p>
            <a:pPr marL="228600" indent="-228600">
              <a:buAutoNum type="arabicPeriod"/>
            </a:pPr>
            <a:r>
              <a:rPr lang="zh-CN" altLang="en-US" dirty="0"/>
              <a:t>端到端报文就是 传输层</a:t>
            </a:r>
            <a:endParaRPr lang="en-US" altLang="zh-CN" dirty="0"/>
          </a:p>
          <a:p>
            <a:pPr marL="228600" indent="-228600">
              <a:buAutoNum type="arabicPeriod"/>
            </a:pPr>
            <a:r>
              <a:rPr lang="zh-CN" altLang="en-US"/>
              <a:t>点到点 基本就是数据链路层</a:t>
            </a:r>
            <a:endParaRPr lang="en-US" altLang="zh-CN"/>
          </a:p>
        </p:txBody>
      </p:sp>
      <p:sp>
        <p:nvSpPr>
          <p:cNvPr id="4" name="灯片编号占位符 3">
            <a:extLst>
              <a:ext uri="{FF2B5EF4-FFF2-40B4-BE49-F238E27FC236}">
                <a16:creationId xmlns:a16="http://schemas.microsoft.com/office/drawing/2014/main" id="{BAD9EED7-AD18-7841-3AE4-70525A7E2ED8}"/>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97293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401BC-B9E7-02EE-0850-2BCB69657A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E72787-C2E0-B487-C662-4DE264C661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F42D52-3AC4-F929-C7A4-B96C5CA86E2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034C96A-0974-6A70-E1A3-68EC29D5682F}"/>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2477967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庞门正道标题体"/>
                <a:ea typeface="庞门正道标题体"/>
                <a:cs typeface="庞门正道标题体"/>
              </a:defRPr>
            </a:lvl1pPr>
          </a:lstStyle>
          <a:p>
            <a:fld id="{D997B5FA-0921-464F-AAE1-844C04324D75}" type="datetimeFigureOut">
              <a:rPr lang="zh-CN" altLang="en-US" smtClean="0"/>
              <a:t>2025/12/10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庞门正道标题体"/>
                <a:ea typeface="庞门正道标题体"/>
                <a:cs typeface="庞门正道标题体"/>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庞门正道标题体"/>
                <a:ea typeface="庞门正道标题体"/>
                <a:cs typeface="庞门正道标题体"/>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eaLnBrk="1" latinLnBrk="0" hangingPunct="1">
        <a:lnSpc>
          <a:spcPct val="90000"/>
        </a:lnSpc>
        <a:spcBef>
          <a:spcPct val="0"/>
        </a:spcBef>
        <a:buNone/>
        <a:defRPr sz="4400" kern="1200">
          <a:solidFill>
            <a:schemeClr val="tx1"/>
          </a:solidFill>
          <a:latin typeface="庞门正道标题体"/>
          <a:ea typeface="庞门正道标题体"/>
          <a:cs typeface="庞门正道标题体"/>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庞门正道标题体"/>
          <a:ea typeface="庞门正道标题体"/>
          <a:cs typeface="庞门正道标题体"/>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庞门正道标题体"/>
          <a:ea typeface="庞门正道标题体"/>
          <a:cs typeface="庞门正道标题体"/>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庞门正道标题体"/>
          <a:ea typeface="庞门正道标题体"/>
          <a:cs typeface="庞门正道标题体"/>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庞门正道标题体"/>
          <a:ea typeface="庞门正道标题体"/>
          <a:cs typeface="庞门正道标题体"/>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庞门正道标题体"/>
          <a:ea typeface="庞门正道标题体"/>
          <a:cs typeface="庞门正道标题体"/>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chat.deepseek.com/a/chat/s/f529e720-9a0a-4ed1-9295-7096744dc89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B0CA5-6A3F-920C-A263-0577E18E0F11}"/>
            </a:ext>
          </a:extLst>
        </p:cNvPr>
        <p:cNvGrpSpPr/>
        <p:nvPr/>
      </p:nvGrpSpPr>
      <p:grpSpPr>
        <a:xfrm>
          <a:off x="0" y="0"/>
          <a:ext cx="0" cy="0"/>
          <a:chOff x="0" y="0"/>
          <a:chExt cx="0" cy="0"/>
        </a:xfrm>
      </p:grpSpPr>
      <p:sp>
        <p:nvSpPr>
          <p:cNvPr id="27" name="矩形 26">
            <a:extLst>
              <a:ext uri="{FF2B5EF4-FFF2-40B4-BE49-F238E27FC236}">
                <a16:creationId xmlns:a16="http://schemas.microsoft.com/office/drawing/2014/main" id="{6E78B813-D990-F856-A381-457A4FA509E2}"/>
              </a:ext>
            </a:extLst>
          </p:cNvPr>
          <p:cNvSpPr/>
          <p:nvPr/>
        </p:nvSpPr>
        <p:spPr>
          <a:xfrm>
            <a:off x="300990" y="287655"/>
            <a:ext cx="11588750" cy="6282055"/>
          </a:xfrm>
          <a:prstGeom prst="rect">
            <a:avLst/>
          </a:prstGeom>
          <a:noFill/>
          <a:ln w="25400">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nvGrpSpPr>
          <p:cNvPr id="9" name="组合 8">
            <a:extLst>
              <a:ext uri="{FF2B5EF4-FFF2-40B4-BE49-F238E27FC236}">
                <a16:creationId xmlns:a16="http://schemas.microsoft.com/office/drawing/2014/main" id="{8C5C5945-E3FD-11F0-B398-8592A805C95A}"/>
              </a:ext>
            </a:extLst>
          </p:cNvPr>
          <p:cNvGrpSpPr/>
          <p:nvPr/>
        </p:nvGrpSpPr>
        <p:grpSpPr>
          <a:xfrm rot="10800000">
            <a:off x="-64" y="0"/>
            <a:ext cx="4157409" cy="2136775"/>
            <a:chOff x="-241" y="7052"/>
            <a:chExt cx="7292" cy="3748"/>
          </a:xfrm>
        </p:grpSpPr>
        <p:sp>
          <p:nvSpPr>
            <p:cNvPr id="10" name="等腰三角形 9">
              <a:extLst>
                <a:ext uri="{FF2B5EF4-FFF2-40B4-BE49-F238E27FC236}">
                  <a16:creationId xmlns:a16="http://schemas.microsoft.com/office/drawing/2014/main" id="{E6052D91-F574-C694-4C62-8F0ACC79E941}"/>
                </a:ext>
              </a:extLst>
            </p:cNvPr>
            <p:cNvSpPr/>
            <p:nvPr/>
          </p:nvSpPr>
          <p:spPr>
            <a:xfrm>
              <a:off x="316" y="8083"/>
              <a:ext cx="3885" cy="2717"/>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1" name="等腰三角形 10">
              <a:extLst>
                <a:ext uri="{FF2B5EF4-FFF2-40B4-BE49-F238E27FC236}">
                  <a16:creationId xmlns:a16="http://schemas.microsoft.com/office/drawing/2014/main" id="{7D2647A4-F91B-5F8D-8D49-054194169CB7}"/>
                </a:ext>
              </a:extLst>
            </p:cNvPr>
            <p:cNvSpPr/>
            <p:nvPr/>
          </p:nvSpPr>
          <p:spPr>
            <a:xfrm>
              <a:off x="1692" y="7052"/>
              <a:ext cx="5359" cy="3748"/>
            </a:xfrm>
            <a:prstGeom prst="triangle">
              <a:avLst/>
            </a:prstGeom>
            <a:solidFill>
              <a:srgbClr val="034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A547836F-582D-87CD-92A8-7485778C496F}"/>
                </a:ext>
              </a:extLst>
            </p:cNvPr>
            <p:cNvSpPr/>
            <p:nvPr/>
          </p:nvSpPr>
          <p:spPr>
            <a:xfrm>
              <a:off x="-241" y="7305"/>
              <a:ext cx="4999" cy="3495"/>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grpSp>
        <p:nvGrpSpPr>
          <p:cNvPr id="13" name="组合 12">
            <a:extLst>
              <a:ext uri="{FF2B5EF4-FFF2-40B4-BE49-F238E27FC236}">
                <a16:creationId xmlns:a16="http://schemas.microsoft.com/office/drawing/2014/main" id="{95FF5A6F-26EA-39F1-05B8-91546979EC75}"/>
              </a:ext>
            </a:extLst>
          </p:cNvPr>
          <p:cNvGrpSpPr/>
          <p:nvPr/>
        </p:nvGrpSpPr>
        <p:grpSpPr>
          <a:xfrm rot="10800000" flipH="1" flipV="1">
            <a:off x="8342463" y="4721225"/>
            <a:ext cx="3849537" cy="2136775"/>
            <a:chOff x="299" y="7052"/>
            <a:chExt cx="6752" cy="3748"/>
          </a:xfrm>
        </p:grpSpPr>
        <p:sp>
          <p:nvSpPr>
            <p:cNvPr id="14" name="等腰三角形 13">
              <a:extLst>
                <a:ext uri="{FF2B5EF4-FFF2-40B4-BE49-F238E27FC236}">
                  <a16:creationId xmlns:a16="http://schemas.microsoft.com/office/drawing/2014/main" id="{AEE76ADD-1F5A-83E2-A559-67BF99D282BD}"/>
                </a:ext>
              </a:extLst>
            </p:cNvPr>
            <p:cNvSpPr/>
            <p:nvPr/>
          </p:nvSpPr>
          <p:spPr>
            <a:xfrm>
              <a:off x="734" y="8376"/>
              <a:ext cx="3466" cy="2424"/>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5" name="等腰三角形 14">
              <a:extLst>
                <a:ext uri="{FF2B5EF4-FFF2-40B4-BE49-F238E27FC236}">
                  <a16:creationId xmlns:a16="http://schemas.microsoft.com/office/drawing/2014/main" id="{911A2B2A-6784-6E3A-2371-2A5E26D19B6B}"/>
                </a:ext>
              </a:extLst>
            </p:cNvPr>
            <p:cNvSpPr/>
            <p:nvPr/>
          </p:nvSpPr>
          <p:spPr>
            <a:xfrm>
              <a:off x="1692" y="7052"/>
              <a:ext cx="5359" cy="3748"/>
            </a:xfrm>
            <a:prstGeom prst="triangle">
              <a:avLst/>
            </a:prstGeom>
            <a:solidFill>
              <a:srgbClr val="034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6" name="等腰三角形 15">
              <a:extLst>
                <a:ext uri="{FF2B5EF4-FFF2-40B4-BE49-F238E27FC236}">
                  <a16:creationId xmlns:a16="http://schemas.microsoft.com/office/drawing/2014/main" id="{83470E0E-74CF-8421-368A-E0DF3E5584A1}"/>
                </a:ext>
              </a:extLst>
            </p:cNvPr>
            <p:cNvSpPr/>
            <p:nvPr/>
          </p:nvSpPr>
          <p:spPr>
            <a:xfrm>
              <a:off x="299" y="7682"/>
              <a:ext cx="4458" cy="3118"/>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2" name="文本框 1">
            <a:extLst>
              <a:ext uri="{FF2B5EF4-FFF2-40B4-BE49-F238E27FC236}">
                <a16:creationId xmlns:a16="http://schemas.microsoft.com/office/drawing/2014/main" id="{12A9EDFF-9FE1-0FFA-F38D-D03E8232BD87}"/>
              </a:ext>
            </a:extLst>
          </p:cNvPr>
          <p:cNvSpPr txBox="1"/>
          <p:nvPr/>
        </p:nvSpPr>
        <p:spPr>
          <a:xfrm>
            <a:off x="613764" y="2042274"/>
            <a:ext cx="11275976" cy="984885"/>
          </a:xfrm>
          <a:prstGeom prst="rect">
            <a:avLst/>
          </a:prstGeom>
          <a:noFill/>
        </p:spPr>
        <p:txBody>
          <a:bodyPr wrap="square" rtlCol="0">
            <a:spAutoFit/>
          </a:bodyPr>
          <a:lstStyle/>
          <a:p>
            <a:pPr algn="ctr">
              <a:lnSpc>
                <a:spcPct val="120000"/>
              </a:lnSpc>
              <a:spcBef>
                <a:spcPct val="0"/>
              </a:spcBef>
              <a:spcAft>
                <a:spcPct val="0"/>
              </a:spcAft>
            </a:pPr>
            <a:r>
              <a:rPr lang="zh-CN" altLang="en-US" sz="5200" dirty="0">
                <a:solidFill>
                  <a:srgbClr val="2E75B6"/>
                </a:solidFill>
                <a:uFillTx/>
                <a:latin typeface="Source Han Sans CN Bold"/>
                <a:ea typeface="Source Han Sans CN Bold"/>
                <a:cs typeface="Source Han Sans CN Bold"/>
              </a:rPr>
              <a:t>计算机考研</a:t>
            </a:r>
            <a:r>
              <a:rPr lang="en-US" altLang="zh-CN" sz="5200" dirty="0">
                <a:solidFill>
                  <a:srgbClr val="2E75B6"/>
                </a:solidFill>
                <a:uFillTx/>
                <a:latin typeface="Source Han Sans CN Bold"/>
                <a:ea typeface="Source Han Sans CN Bold"/>
                <a:cs typeface="Source Han Sans CN Bold"/>
              </a:rPr>
              <a:t>408  </a:t>
            </a:r>
            <a:r>
              <a:rPr lang="zh-CN" altLang="en-US" sz="5200" dirty="0">
                <a:solidFill>
                  <a:srgbClr val="2E75B6"/>
                </a:solidFill>
                <a:latin typeface="Source Han Sans CN Bold"/>
                <a:ea typeface="Source Han Sans CN Bold"/>
                <a:cs typeface="Source Han Sans CN Bold"/>
              </a:rPr>
              <a:t>历年真题  分章节精讲</a:t>
            </a:r>
            <a:endParaRPr lang="zh-CN" altLang="en-US" sz="5200" dirty="0">
              <a:solidFill>
                <a:srgbClr val="2E75B6"/>
              </a:solidFill>
              <a:uFillTx/>
              <a:latin typeface="Source Han Sans CN Bold"/>
              <a:ea typeface="Source Han Sans CN Bold"/>
              <a:cs typeface="Source Han Sans CN Bold"/>
            </a:endParaRPr>
          </a:p>
        </p:txBody>
      </p:sp>
      <p:sp>
        <p:nvSpPr>
          <p:cNvPr id="3" name="文本框 2">
            <a:extLst>
              <a:ext uri="{FF2B5EF4-FFF2-40B4-BE49-F238E27FC236}">
                <a16:creationId xmlns:a16="http://schemas.microsoft.com/office/drawing/2014/main" id="{CBD6E7EA-BD7A-FA8A-C2CE-9D0C6AF66BC0}"/>
              </a:ext>
            </a:extLst>
          </p:cNvPr>
          <p:cNvSpPr txBox="1"/>
          <p:nvPr/>
        </p:nvSpPr>
        <p:spPr>
          <a:xfrm>
            <a:off x="1896940" y="3148351"/>
            <a:ext cx="8396849" cy="1366528"/>
          </a:xfrm>
          <a:prstGeom prst="rect">
            <a:avLst/>
          </a:prstGeom>
          <a:noFill/>
        </p:spPr>
        <p:txBody>
          <a:bodyPr wrap="square" rtlCol="0">
            <a:spAutoFit/>
          </a:bodyPr>
          <a:lstStyle/>
          <a:p>
            <a:pPr lvl="0" algn="ctr">
              <a:lnSpc>
                <a:spcPct val="120000"/>
              </a:lnSpc>
              <a:spcBef>
                <a:spcPct val="0"/>
              </a:spcBef>
              <a:spcAft>
                <a:spcPct val="0"/>
              </a:spcAft>
              <a:buClrTx/>
              <a:buSzTx/>
              <a:buFontTx/>
            </a:pPr>
            <a:r>
              <a:rPr lang="zh-CN" altLang="en-US" sz="7200" spc="100" dirty="0">
                <a:solidFill>
                  <a:srgbClr val="2E75B6"/>
                </a:solidFill>
                <a:latin typeface="华文行楷" panose="02010800040101010101" pitchFamily="2" charset="-122"/>
                <a:ea typeface="华文行楷" panose="02010800040101010101" pitchFamily="2" charset="-122"/>
                <a:cs typeface="Source Han Sans CN Bold"/>
                <a:sym typeface="+mn-ea"/>
              </a:rPr>
              <a:t>计算机网络篇</a:t>
            </a:r>
            <a:endParaRPr lang="zh-CN" altLang="en-US" sz="7200" spc="100" dirty="0">
              <a:solidFill>
                <a:srgbClr val="2E75B6"/>
              </a:solidFill>
              <a:uFillTx/>
              <a:latin typeface="华文行楷" panose="02010800040101010101" pitchFamily="2" charset="-122"/>
              <a:ea typeface="华文行楷" panose="02010800040101010101" pitchFamily="2" charset="-122"/>
              <a:cs typeface="Source Han Sans CN Bold"/>
              <a:sym typeface="+mn-ea"/>
            </a:endParaRPr>
          </a:p>
        </p:txBody>
      </p:sp>
      <p:grpSp>
        <p:nvGrpSpPr>
          <p:cNvPr id="4" name="组合 3">
            <a:extLst>
              <a:ext uri="{FF2B5EF4-FFF2-40B4-BE49-F238E27FC236}">
                <a16:creationId xmlns:a16="http://schemas.microsoft.com/office/drawing/2014/main" id="{49D37436-6ED1-71B0-8C74-4571F5217618}"/>
              </a:ext>
            </a:extLst>
          </p:cNvPr>
          <p:cNvGrpSpPr/>
          <p:nvPr/>
        </p:nvGrpSpPr>
        <p:grpSpPr>
          <a:xfrm>
            <a:off x="8208034" y="1361900"/>
            <a:ext cx="2810510" cy="475615"/>
            <a:chOff x="7394" y="7810"/>
            <a:chExt cx="4426" cy="749"/>
          </a:xfrm>
        </p:grpSpPr>
        <p:sp>
          <p:nvSpPr>
            <p:cNvPr id="5" name="圆角矩形 41">
              <a:extLst>
                <a:ext uri="{FF2B5EF4-FFF2-40B4-BE49-F238E27FC236}">
                  <a16:creationId xmlns:a16="http://schemas.microsoft.com/office/drawing/2014/main" id="{96566F9A-F92E-FB1D-2560-C14BD1A92881}"/>
                </a:ext>
              </a:extLst>
            </p:cNvPr>
            <p:cNvSpPr/>
            <p:nvPr/>
          </p:nvSpPr>
          <p:spPr>
            <a:xfrm>
              <a:off x="7394" y="7854"/>
              <a:ext cx="4426" cy="705"/>
            </a:xfrm>
            <a:prstGeom prst="roundRect">
              <a:avLst>
                <a:gd name="adj" fmla="val 50000"/>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75B6"/>
                </a:solidFill>
                <a:latin typeface="Source Han Sans CN Bold"/>
                <a:ea typeface="Source Han Sans CN Bold"/>
                <a:cs typeface="思源黑体 Medium"/>
              </a:endParaRPr>
            </a:p>
          </p:txBody>
        </p:sp>
        <p:sp>
          <p:nvSpPr>
            <p:cNvPr id="6" name="文本框 5">
              <a:extLst>
                <a:ext uri="{FF2B5EF4-FFF2-40B4-BE49-F238E27FC236}">
                  <a16:creationId xmlns:a16="http://schemas.microsoft.com/office/drawing/2014/main" id="{D4CA502A-6E48-805A-FA42-B46427B06C1E}"/>
                </a:ext>
              </a:extLst>
            </p:cNvPr>
            <p:cNvSpPr txBox="1"/>
            <p:nvPr/>
          </p:nvSpPr>
          <p:spPr>
            <a:xfrm>
              <a:off x="7838" y="7810"/>
              <a:ext cx="3539" cy="687"/>
            </a:xfrm>
            <a:prstGeom prst="rect">
              <a:avLst/>
            </a:prstGeom>
            <a:noFill/>
          </p:spPr>
          <p:txBody>
            <a:bodyPr wrap="square" rtlCol="0">
              <a:spAutoFit/>
            </a:bodyPr>
            <a:lstStyle/>
            <a:p>
              <a:pPr lvl="0" algn="ctr">
                <a:lnSpc>
                  <a:spcPct val="120000"/>
                </a:lnSpc>
                <a:spcBef>
                  <a:spcPct val="0"/>
                </a:spcBef>
                <a:spcAft>
                  <a:spcPct val="0"/>
                </a:spcAft>
                <a:buClrTx/>
                <a:buSzTx/>
                <a:buFontTx/>
              </a:pPr>
              <a:r>
                <a:rPr lang="zh-CN" altLang="en-US" sz="2000" spc="300" dirty="0">
                  <a:solidFill>
                    <a:schemeClr val="bg1"/>
                  </a:solidFill>
                  <a:uFillTx/>
                  <a:latin typeface="Source Han Sans CN Bold"/>
                  <a:ea typeface="Source Han Sans CN Bold"/>
                  <a:cs typeface="Source Han Sans CN Bold"/>
                  <a:sym typeface="+mn-ea"/>
                </a:rPr>
                <a:t>主讲人：</a:t>
              </a:r>
              <a:r>
                <a:rPr lang="zh-CN" altLang="en-US" sz="2000" spc="300" dirty="0">
                  <a:solidFill>
                    <a:schemeClr val="bg1"/>
                  </a:solidFill>
                  <a:latin typeface="Source Han Sans CN Bold"/>
                  <a:ea typeface="Source Han Sans CN Bold"/>
                  <a:cs typeface="Source Han Sans CN Bold"/>
                  <a:sym typeface="+mn-ea"/>
                </a:rPr>
                <a:t>半幺郎</a:t>
              </a:r>
              <a:endParaRPr lang="en-US" altLang="zh-CN" sz="2000" spc="300" dirty="0">
                <a:solidFill>
                  <a:schemeClr val="bg1"/>
                </a:solidFill>
                <a:uFillTx/>
                <a:latin typeface="Source Han Sans CN Bold"/>
                <a:ea typeface="Source Han Sans CN Bold"/>
                <a:cs typeface="Source Han Sans CN Bold"/>
                <a:sym typeface="+mn-ea"/>
              </a:endParaRPr>
            </a:p>
          </p:txBody>
        </p:sp>
      </p:grpSp>
      <p:grpSp>
        <p:nvGrpSpPr>
          <p:cNvPr id="17" name="组合 16">
            <a:extLst>
              <a:ext uri="{FF2B5EF4-FFF2-40B4-BE49-F238E27FC236}">
                <a16:creationId xmlns:a16="http://schemas.microsoft.com/office/drawing/2014/main" id="{D63DE6DD-5986-B2E3-1744-B4E7A6CFA9E8}"/>
              </a:ext>
            </a:extLst>
          </p:cNvPr>
          <p:cNvGrpSpPr/>
          <p:nvPr>
            <p:custDataLst>
              <p:tags r:id="rId1"/>
            </p:custDataLst>
          </p:nvPr>
        </p:nvGrpSpPr>
        <p:grpSpPr>
          <a:xfrm>
            <a:off x="3249447" y="4725880"/>
            <a:ext cx="5691834" cy="1251372"/>
            <a:chOff x="3157660" y="2413262"/>
            <a:chExt cx="5714068" cy="1747082"/>
          </a:xfrm>
        </p:grpSpPr>
        <p:grpSp>
          <p:nvGrpSpPr>
            <p:cNvPr id="20" name="组合 19">
              <a:extLst>
                <a:ext uri="{FF2B5EF4-FFF2-40B4-BE49-F238E27FC236}">
                  <a16:creationId xmlns:a16="http://schemas.microsoft.com/office/drawing/2014/main" id="{9A3B9DA1-B39A-27DA-E057-7CE7DE3041D6}"/>
                </a:ext>
              </a:extLst>
            </p:cNvPr>
            <p:cNvGrpSpPr/>
            <p:nvPr/>
          </p:nvGrpSpPr>
          <p:grpSpPr>
            <a:xfrm>
              <a:off x="3157660" y="2413262"/>
              <a:ext cx="5714068" cy="1747082"/>
              <a:chOff x="3157660" y="2413262"/>
              <a:chExt cx="5714068" cy="1747082"/>
            </a:xfrm>
          </p:grpSpPr>
          <p:sp>
            <p:nvSpPr>
              <p:cNvPr id="22" name="平行四边形 21">
                <a:extLst>
                  <a:ext uri="{FF2B5EF4-FFF2-40B4-BE49-F238E27FC236}">
                    <a16:creationId xmlns:a16="http://schemas.microsoft.com/office/drawing/2014/main" id="{FD3B9DF8-15E8-B73A-DDE2-F4DE406FC2F0}"/>
                  </a:ext>
                </a:extLst>
              </p:cNvPr>
              <p:cNvSpPr/>
              <p:nvPr/>
            </p:nvSpPr>
            <p:spPr>
              <a:xfrm>
                <a:off x="3157660" y="2537480"/>
                <a:ext cx="3201439" cy="1109333"/>
              </a:xfrm>
              <a:prstGeom prst="parallelogram">
                <a:avLst>
                  <a:gd name="adj" fmla="val 50532"/>
                </a:avLst>
              </a:prstGeom>
              <a:gradFill flip="none" rotWithShape="1">
                <a:gsLst>
                  <a:gs pos="0">
                    <a:srgbClr val="0057B5"/>
                  </a:gs>
                  <a:gs pos="100000">
                    <a:srgbClr val="0079FE">
                      <a:alpha val="41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a:extLst>
                  <a:ext uri="{FF2B5EF4-FFF2-40B4-BE49-F238E27FC236}">
                    <a16:creationId xmlns:a16="http://schemas.microsoft.com/office/drawing/2014/main" id="{BE4EC60A-E5CE-0991-F85D-D8F856141393}"/>
                  </a:ext>
                </a:extLst>
              </p:cNvPr>
              <p:cNvSpPr/>
              <p:nvPr/>
            </p:nvSpPr>
            <p:spPr>
              <a:xfrm>
                <a:off x="5670289" y="2900158"/>
                <a:ext cx="3201439" cy="1109333"/>
              </a:xfrm>
              <a:prstGeom prst="parallelogram">
                <a:avLst>
                  <a:gd name="adj" fmla="val 50532"/>
                </a:avLst>
              </a:prstGeom>
              <a:gradFill flip="none" rotWithShape="1">
                <a:gsLst>
                  <a:gs pos="0">
                    <a:srgbClr val="0057B5"/>
                  </a:gs>
                  <a:gs pos="100000">
                    <a:srgbClr val="0079FE">
                      <a:alpha val="41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A174EF4A-7B10-0D14-0FE2-FE91917C5D81}"/>
                  </a:ext>
                </a:extLst>
              </p:cNvPr>
              <p:cNvCxnSpPr/>
              <p:nvPr/>
            </p:nvCxnSpPr>
            <p:spPr>
              <a:xfrm>
                <a:off x="4040951" y="2413262"/>
                <a:ext cx="1961305" cy="0"/>
              </a:xfrm>
              <a:prstGeom prst="line">
                <a:avLst/>
              </a:prstGeom>
              <a:ln>
                <a:gradFill flip="none" rotWithShape="1">
                  <a:gsLst>
                    <a:gs pos="0">
                      <a:srgbClr val="0057B5"/>
                    </a:gs>
                    <a:gs pos="100000">
                      <a:srgbClr val="0079FE">
                        <a:alpha val="25000"/>
                      </a:srgbClr>
                    </a:gs>
                  </a:gsLst>
                  <a:lin ang="0" scaled="1"/>
                  <a:tileRect/>
                </a:gradFill>
                <a:headEnd type="oval" w="sm" len="sm"/>
              </a:ln>
            </p:spPr>
            <p:style>
              <a:lnRef idx="2">
                <a:schemeClr val="accent1"/>
              </a:lnRef>
              <a:fillRef idx="0">
                <a:schemeClr val="accent1"/>
              </a:fillRef>
              <a:effectRef idx="1">
                <a:schemeClr val="accent1"/>
              </a:effectRef>
              <a:fontRef idx="minor">
                <a:schemeClr val="tx1"/>
              </a:fontRef>
            </p:style>
          </p:cxnSp>
          <p:cxnSp>
            <p:nvCxnSpPr>
              <p:cNvPr id="26" name="直接连接符 25">
                <a:extLst>
                  <a:ext uri="{FF2B5EF4-FFF2-40B4-BE49-F238E27FC236}">
                    <a16:creationId xmlns:a16="http://schemas.microsoft.com/office/drawing/2014/main" id="{401FA0ED-7F77-59F6-40A9-300AC2F5FC56}"/>
                  </a:ext>
                </a:extLst>
              </p:cNvPr>
              <p:cNvCxnSpPr/>
              <p:nvPr/>
            </p:nvCxnSpPr>
            <p:spPr>
              <a:xfrm>
                <a:off x="6096000" y="4160344"/>
                <a:ext cx="1961305" cy="0"/>
              </a:xfrm>
              <a:prstGeom prst="line">
                <a:avLst/>
              </a:prstGeom>
              <a:ln>
                <a:gradFill flip="none" rotWithShape="1">
                  <a:gsLst>
                    <a:gs pos="0">
                      <a:srgbClr val="0057B5"/>
                    </a:gs>
                    <a:gs pos="100000">
                      <a:srgbClr val="0079FE">
                        <a:alpha val="25000"/>
                      </a:srgbClr>
                    </a:gs>
                  </a:gsLst>
                  <a:lin ang="10800000" scaled="1"/>
                  <a:tileRect/>
                </a:gradFill>
                <a:headEnd w="sm" len="sm"/>
                <a:tailEnd type="oval" w="sm" len="sm"/>
              </a:ln>
            </p:spPr>
            <p:style>
              <a:lnRef idx="2">
                <a:schemeClr val="accent1"/>
              </a:lnRef>
              <a:fillRef idx="0">
                <a:schemeClr val="accent1"/>
              </a:fillRef>
              <a:effectRef idx="1">
                <a:schemeClr val="accent1"/>
              </a:effectRef>
              <a:fontRef idx="minor">
                <a:schemeClr val="tx1"/>
              </a:fontRef>
            </p:style>
          </p:cxnSp>
          <p:sp>
            <p:nvSpPr>
              <p:cNvPr id="31" name="平行四边形 30">
                <a:extLst>
                  <a:ext uri="{FF2B5EF4-FFF2-40B4-BE49-F238E27FC236}">
                    <a16:creationId xmlns:a16="http://schemas.microsoft.com/office/drawing/2014/main" id="{C4B4C76E-29AB-0D80-AAD5-B64463CBA51F}"/>
                  </a:ext>
                </a:extLst>
              </p:cNvPr>
              <p:cNvSpPr/>
              <p:nvPr/>
            </p:nvSpPr>
            <p:spPr>
              <a:xfrm>
                <a:off x="3283678" y="2707314"/>
                <a:ext cx="5437157" cy="1109333"/>
              </a:xfrm>
              <a:prstGeom prst="parallelogram">
                <a:avLst>
                  <a:gd name="adj" fmla="val 50532"/>
                </a:avLst>
              </a:prstGeom>
              <a:solidFill>
                <a:srgbClr val="FFFFFF"/>
              </a:solidFill>
              <a:ln>
                <a:solidFill>
                  <a:srgbClr val="0057B5"/>
                </a:solidFill>
              </a:ln>
              <a:effectLst>
                <a:outerShdw blurRad="50800" dist="38100" dir="5400000" algn="t" rotWithShape="0">
                  <a:srgbClr val="0057B5"/>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文本框 20">
              <a:extLst>
                <a:ext uri="{FF2B5EF4-FFF2-40B4-BE49-F238E27FC236}">
                  <a16:creationId xmlns:a16="http://schemas.microsoft.com/office/drawing/2014/main" id="{0A323F4E-EA54-195D-B086-EB2868B9CCE3}"/>
                </a:ext>
              </a:extLst>
            </p:cNvPr>
            <p:cNvSpPr txBox="1"/>
            <p:nvPr/>
          </p:nvSpPr>
          <p:spPr>
            <a:xfrm>
              <a:off x="3789782" y="2874465"/>
              <a:ext cx="4513662" cy="606833"/>
            </a:xfrm>
            <a:prstGeom prst="rect">
              <a:avLst/>
            </a:prstGeom>
            <a:noFill/>
          </p:spPr>
          <p:txBody>
            <a:bodyPr wrap="square" rtlCol="0">
              <a:noAutofit/>
            </a:bodyPr>
            <a:lstStyle/>
            <a:p>
              <a:pPr algn="dist">
                <a:lnSpc>
                  <a:spcPts val="3840"/>
                </a:lnSpc>
              </a:pPr>
              <a:r>
                <a:rPr lang="zh-CN" altLang="en-US" sz="2800" b="1" dirty="0">
                  <a:solidFill>
                    <a:srgbClr val="0057B5"/>
                  </a:solidFill>
                  <a:latin typeface="微软雅黑" panose="020B0503020204020204" pitchFamily="34" charset="-122"/>
                  <a:ea typeface="微软雅黑" panose="020B0503020204020204" pitchFamily="34" charset="-122"/>
                </a:rPr>
                <a:t>第</a:t>
              </a:r>
              <a:r>
                <a:rPr lang="en-US" altLang="zh-CN" sz="2800" b="1" dirty="0">
                  <a:solidFill>
                    <a:srgbClr val="0057B5"/>
                  </a:solidFill>
                  <a:latin typeface="微软雅黑" panose="020B0503020204020204" pitchFamily="34" charset="-122"/>
                  <a:ea typeface="微软雅黑" panose="020B0503020204020204" pitchFamily="34" charset="-122"/>
                </a:rPr>
                <a:t>1</a:t>
              </a:r>
              <a:r>
                <a:rPr lang="zh-CN" altLang="en-US" sz="2800" b="1" dirty="0">
                  <a:solidFill>
                    <a:srgbClr val="0057B5"/>
                  </a:solidFill>
                  <a:latin typeface="微软雅黑" panose="020B0503020204020204" pitchFamily="34" charset="-122"/>
                  <a:ea typeface="微软雅黑" panose="020B0503020204020204" pitchFamily="34" charset="-122"/>
                </a:rPr>
                <a:t>章 计算机网络体系结构</a:t>
              </a:r>
              <a:endParaRPr lang="en-US" altLang="zh-CN" sz="2800" b="1" dirty="0">
                <a:solidFill>
                  <a:srgbClr val="0057B5"/>
                </a:solidFill>
                <a:latin typeface="微软雅黑" panose="020B0503020204020204" pitchFamily="34" charset="-122"/>
                <a:ea typeface="微软雅黑" panose="020B0503020204020204" pitchFamily="34" charset="-122"/>
              </a:endParaRPr>
            </a:p>
            <a:p>
              <a:pPr algn="dist">
                <a:lnSpc>
                  <a:spcPct val="150000"/>
                </a:lnSpc>
              </a:pPr>
              <a:endParaRPr lang="en-US" altLang="zh-CN" sz="3200" b="1" dirty="0">
                <a:solidFill>
                  <a:srgbClr val="0057B5"/>
                </a:solidFill>
                <a:latin typeface="微软雅黑" panose="020B0503020204020204" pitchFamily="34" charset="-122"/>
                <a:ea typeface="微软雅黑" panose="020B0503020204020204" pitchFamily="34" charset="-122"/>
              </a:endParaRPr>
            </a:p>
            <a:p>
              <a:pPr algn="dist">
                <a:lnSpc>
                  <a:spcPct val="150000"/>
                </a:lnSpc>
              </a:pPr>
              <a:endParaRPr lang="en-US" altLang="zh-CN" sz="3200" b="1" dirty="0">
                <a:solidFill>
                  <a:srgbClr val="0057B5"/>
                </a:solidFill>
                <a:latin typeface="微软雅黑" panose="020B0503020204020204" pitchFamily="34" charset="-122"/>
                <a:ea typeface="微软雅黑" panose="020B0503020204020204" pitchFamily="34" charset="-122"/>
              </a:endParaRPr>
            </a:p>
            <a:p>
              <a:pPr algn="dist">
                <a:lnSpc>
                  <a:spcPct val="150000"/>
                </a:lnSpc>
              </a:pPr>
              <a:endParaRPr lang="en-US" sz="3200" b="1" dirty="0">
                <a:solidFill>
                  <a:srgbClr val="0057B5"/>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3088459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7800" y="0"/>
            <a:ext cx="1233805" cy="686435"/>
            <a:chOff x="423" y="0"/>
            <a:chExt cx="1943" cy="1081"/>
          </a:xfrm>
        </p:grpSpPr>
        <p:sp>
          <p:nvSpPr>
            <p:cNvPr id="10" name="等腰三角形 9"/>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p:cNvSpPr txBox="1"/>
          <p:nvPr/>
        </p:nvSpPr>
        <p:spPr>
          <a:xfrm>
            <a:off x="1474169" y="123190"/>
            <a:ext cx="6168290"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1  </a:t>
            </a:r>
            <a:r>
              <a:rPr lang="zh-CN" altLang="en-US" sz="2400" spc="100" dirty="0">
                <a:solidFill>
                  <a:srgbClr val="C00000"/>
                </a:solidFill>
                <a:latin typeface="黑体" panose="02010609060101010101" pitchFamily="49" charset="-122"/>
                <a:ea typeface="黑体" panose="02010609060101010101" pitchFamily="49" charset="-122"/>
                <a:cs typeface="庞门正道标题体"/>
              </a:rPr>
              <a:t>计算机网络分层结构</a:t>
            </a:r>
            <a:endParaRPr lang="zh-CN" altLang="en-US" sz="2400" spc="100" dirty="0">
              <a:solidFill>
                <a:srgbClr val="C00000"/>
              </a:solidFill>
              <a:uFillTx/>
              <a:latin typeface="黑体" panose="02010609060101010101" pitchFamily="49" charset="-122"/>
              <a:ea typeface="黑体" panose="02010609060101010101" pitchFamily="49" charset="-122"/>
              <a:cs typeface="庞门正道标题体"/>
            </a:endParaRPr>
          </a:p>
        </p:txBody>
      </p:sp>
      <p:pic>
        <p:nvPicPr>
          <p:cNvPr id="9" name="图片 8">
            <a:extLst>
              <a:ext uri="{FF2B5EF4-FFF2-40B4-BE49-F238E27FC236}">
                <a16:creationId xmlns:a16="http://schemas.microsoft.com/office/drawing/2014/main" id="{0F3E466B-6CF8-D2D5-3707-F06080BAE4F2}"/>
              </a:ext>
            </a:extLst>
          </p:cNvPr>
          <p:cNvPicPr>
            <a:picLocks noChangeAspect="1"/>
          </p:cNvPicPr>
          <p:nvPr/>
        </p:nvPicPr>
        <p:blipFill>
          <a:blip r:embed="rId3"/>
          <a:stretch>
            <a:fillRect/>
          </a:stretch>
        </p:blipFill>
        <p:spPr>
          <a:xfrm>
            <a:off x="1572106" y="927410"/>
            <a:ext cx="6486751" cy="922136"/>
          </a:xfrm>
          <a:prstGeom prst="rect">
            <a:avLst/>
          </a:prstGeom>
        </p:spPr>
      </p:pic>
      <p:sp>
        <p:nvSpPr>
          <p:cNvPr id="3" name="文本框 2">
            <a:extLst>
              <a:ext uri="{FF2B5EF4-FFF2-40B4-BE49-F238E27FC236}">
                <a16:creationId xmlns:a16="http://schemas.microsoft.com/office/drawing/2014/main" id="{4FF9020A-780C-29AB-0072-175F7836E424}"/>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2010</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3E5B9-EAC7-6617-0E35-4FA00D1BCA0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A6A1166-072E-4F9D-ADC4-C45DAC4FF8FF}"/>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E099F0DE-E821-4153-57E0-44C6AA413939}"/>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49907F4E-826F-2B4A-F7AE-650A2A99C683}"/>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7E0E7C5C-2C16-6517-1FEE-2474868918E6}"/>
              </a:ext>
            </a:extLst>
          </p:cNvPr>
          <p:cNvSpPr txBox="1"/>
          <p:nvPr/>
        </p:nvSpPr>
        <p:spPr>
          <a:xfrm>
            <a:off x="1474169" y="123190"/>
            <a:ext cx="6947936"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2  </a:t>
            </a:r>
            <a:r>
              <a:rPr lang="zh-CN" altLang="en-US" sz="2400" spc="100" dirty="0">
                <a:solidFill>
                  <a:srgbClr val="C00000"/>
                </a:solidFill>
                <a:latin typeface="黑体" panose="02010609060101010101" pitchFamily="49" charset="-122"/>
                <a:ea typeface="黑体" panose="02010609060101010101" pitchFamily="49" charset="-122"/>
                <a:cs typeface="庞门正道标题体"/>
              </a:rPr>
              <a:t>计算机网络协议、接口、服务等概念</a:t>
            </a:r>
            <a:endParaRPr lang="zh-CN" altLang="en-US" sz="2400" spc="100" dirty="0">
              <a:solidFill>
                <a:srgbClr val="C00000"/>
              </a:solidFill>
              <a:uFillTx/>
              <a:latin typeface="黑体" panose="02010609060101010101" pitchFamily="49" charset="-122"/>
              <a:ea typeface="黑体" panose="02010609060101010101" pitchFamily="49" charset="-122"/>
              <a:cs typeface="庞门正道标题体"/>
            </a:endParaRPr>
          </a:p>
        </p:txBody>
      </p:sp>
      <p:pic>
        <p:nvPicPr>
          <p:cNvPr id="4" name="图片 3">
            <a:extLst>
              <a:ext uri="{FF2B5EF4-FFF2-40B4-BE49-F238E27FC236}">
                <a16:creationId xmlns:a16="http://schemas.microsoft.com/office/drawing/2014/main" id="{C0B65434-2929-29DF-02B7-F52F2A60F29B}"/>
              </a:ext>
            </a:extLst>
          </p:cNvPr>
          <p:cNvPicPr>
            <a:picLocks noChangeAspect="1"/>
          </p:cNvPicPr>
          <p:nvPr/>
        </p:nvPicPr>
        <p:blipFill>
          <a:blip r:embed="rId4"/>
          <a:stretch>
            <a:fillRect/>
          </a:stretch>
        </p:blipFill>
        <p:spPr>
          <a:xfrm>
            <a:off x="1544173" y="949854"/>
            <a:ext cx="7466246" cy="2952313"/>
          </a:xfrm>
          <a:prstGeom prst="rect">
            <a:avLst/>
          </a:prstGeom>
        </p:spPr>
      </p:pic>
      <p:sp>
        <p:nvSpPr>
          <p:cNvPr id="3" name="文本框 2">
            <a:extLst>
              <a:ext uri="{FF2B5EF4-FFF2-40B4-BE49-F238E27FC236}">
                <a16:creationId xmlns:a16="http://schemas.microsoft.com/office/drawing/2014/main" id="{AD3B022F-3B76-E1B8-AA68-6D2711610728}"/>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2020</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4532580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3395A-183D-196A-1116-FA42F98CF67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439D6D0-1261-CA20-8E62-EAEDDA5766CE}"/>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1E5737FA-18DA-0031-A502-44709A32956F}"/>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9B84A0F8-884D-9678-812B-16607619DFD7}"/>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80603A2D-24D2-98BA-C695-CA6032890D37}"/>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pic>
        <p:nvPicPr>
          <p:cNvPr id="4" name="图片 3">
            <a:extLst>
              <a:ext uri="{FF2B5EF4-FFF2-40B4-BE49-F238E27FC236}">
                <a16:creationId xmlns:a16="http://schemas.microsoft.com/office/drawing/2014/main" id="{00AB71A0-7874-66FF-39B9-32D5F218CD52}"/>
              </a:ext>
            </a:extLst>
          </p:cNvPr>
          <p:cNvPicPr>
            <a:picLocks noChangeAspect="1"/>
          </p:cNvPicPr>
          <p:nvPr/>
        </p:nvPicPr>
        <p:blipFill>
          <a:blip r:embed="rId3"/>
          <a:stretch>
            <a:fillRect/>
          </a:stretch>
        </p:blipFill>
        <p:spPr>
          <a:xfrm>
            <a:off x="1549666" y="949287"/>
            <a:ext cx="7273180" cy="576859"/>
          </a:xfrm>
          <a:prstGeom prst="rect">
            <a:avLst/>
          </a:prstGeom>
        </p:spPr>
      </p:pic>
      <p:sp>
        <p:nvSpPr>
          <p:cNvPr id="5" name="文本框 4">
            <a:extLst>
              <a:ext uri="{FF2B5EF4-FFF2-40B4-BE49-F238E27FC236}">
                <a16:creationId xmlns:a16="http://schemas.microsoft.com/office/drawing/2014/main" id="{BEEB6891-CB19-7228-9395-1C2C48423A6E}"/>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2009</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26250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EA6FE-A133-B41F-A7B2-78594B23348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AEFD97B-F622-944D-C602-E3118552F35D}"/>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F27AFFE6-513F-AF07-060D-739E6867CDF3}"/>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39C9E7C3-5977-D948-E31F-8E9EF8FCBC1B}"/>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0D56937A-7397-D491-32A9-6DA419EC6252}"/>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D5CBBE1E-5334-067F-8578-E4036C62A046}"/>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2013</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C162D01C-3022-3318-4369-2AD4AB18FB40}"/>
              </a:ext>
            </a:extLst>
          </p:cNvPr>
          <p:cNvPicPr>
            <a:picLocks noChangeAspect="1"/>
          </p:cNvPicPr>
          <p:nvPr/>
        </p:nvPicPr>
        <p:blipFill>
          <a:blip r:embed="rId3"/>
          <a:stretch>
            <a:fillRect/>
          </a:stretch>
        </p:blipFill>
        <p:spPr>
          <a:xfrm>
            <a:off x="1572106" y="917350"/>
            <a:ext cx="6782965" cy="854861"/>
          </a:xfrm>
          <a:prstGeom prst="rect">
            <a:avLst/>
          </a:prstGeom>
        </p:spPr>
      </p:pic>
    </p:spTree>
    <p:extLst>
      <p:ext uri="{BB962C8B-B14F-4D97-AF65-F5344CB8AC3E}">
        <p14:creationId xmlns:p14="http://schemas.microsoft.com/office/powerpoint/2010/main" val="259185298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D3B60-CBAD-AFCD-3EC5-15DA3B21C61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A499D4-C593-0BFB-71BA-C09C6C74D3F9}"/>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BC8160C5-0BA7-564C-DFB6-898CE1DD3816}"/>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B1FCD694-9F19-8F06-0F31-77F21A513DB7}"/>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70147B98-9BE4-A0C6-C005-B5098187393B}"/>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BF45A0B4-094F-C97C-7CF0-86DBA97F96CD}"/>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2014</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71A20DF5-DE46-C503-8914-C367B39EA35D}"/>
              </a:ext>
            </a:extLst>
          </p:cNvPr>
          <p:cNvPicPr>
            <a:picLocks noChangeAspect="1"/>
          </p:cNvPicPr>
          <p:nvPr/>
        </p:nvPicPr>
        <p:blipFill>
          <a:blip r:embed="rId3"/>
          <a:stretch>
            <a:fillRect/>
          </a:stretch>
        </p:blipFill>
        <p:spPr>
          <a:xfrm>
            <a:off x="1577716" y="944640"/>
            <a:ext cx="7092058" cy="583329"/>
          </a:xfrm>
          <a:prstGeom prst="rect">
            <a:avLst/>
          </a:prstGeom>
        </p:spPr>
      </p:pic>
    </p:spTree>
    <p:extLst>
      <p:ext uri="{BB962C8B-B14F-4D97-AF65-F5344CB8AC3E}">
        <p14:creationId xmlns:p14="http://schemas.microsoft.com/office/powerpoint/2010/main" val="175514575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005C6-BEF7-EB46-9F90-7B2CD6B141F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71F1A27-DE37-4FD0-4B46-613C69895F1C}"/>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6D23FE77-623B-2EC1-F714-6E499923A559}"/>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4331954C-89B4-D84B-7BAE-520F9187E2BD}"/>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E80EFDCC-3E04-24AF-5D03-71208A900718}"/>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22252DCA-3A99-37B2-2D3B-B8E0449C6ACE}"/>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2019</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0332D30D-24B7-2AD2-276C-759D9D94D62D}"/>
              </a:ext>
            </a:extLst>
          </p:cNvPr>
          <p:cNvPicPr>
            <a:picLocks noChangeAspect="1"/>
          </p:cNvPicPr>
          <p:nvPr/>
        </p:nvPicPr>
        <p:blipFill>
          <a:blip r:embed="rId3"/>
          <a:stretch>
            <a:fillRect/>
          </a:stretch>
        </p:blipFill>
        <p:spPr>
          <a:xfrm>
            <a:off x="1616984" y="937301"/>
            <a:ext cx="7575613" cy="505496"/>
          </a:xfrm>
          <a:prstGeom prst="rect">
            <a:avLst/>
          </a:prstGeom>
        </p:spPr>
      </p:pic>
    </p:spTree>
    <p:extLst>
      <p:ext uri="{BB962C8B-B14F-4D97-AF65-F5344CB8AC3E}">
        <p14:creationId xmlns:p14="http://schemas.microsoft.com/office/powerpoint/2010/main" val="289518223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DF6BE-072D-A147-49F8-A76C1D3E6E4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5CDAA17-4352-96EF-48F6-A380D6C30681}"/>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E2BA7122-E572-1D31-BB19-59BDD672E996}"/>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0AB913E6-F25E-3C46-5061-E7F21D7C51C8}"/>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1A017A16-5184-3919-E462-7FA8AA8FCF86}"/>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79FCC646-EE3F-139D-EC45-BA99AEE39F92}"/>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2022</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20" name="图片 19">
            <a:extLst>
              <a:ext uri="{FF2B5EF4-FFF2-40B4-BE49-F238E27FC236}">
                <a16:creationId xmlns:a16="http://schemas.microsoft.com/office/drawing/2014/main" id="{616ECCFF-9A4D-3356-5933-6A518853ED67}"/>
              </a:ext>
            </a:extLst>
          </p:cNvPr>
          <p:cNvPicPr>
            <a:picLocks noChangeAspect="1"/>
          </p:cNvPicPr>
          <p:nvPr/>
        </p:nvPicPr>
        <p:blipFill>
          <a:blip r:embed="rId3"/>
          <a:stretch>
            <a:fillRect/>
          </a:stretch>
        </p:blipFill>
        <p:spPr>
          <a:xfrm>
            <a:off x="1588935" y="915286"/>
            <a:ext cx="6853799" cy="504709"/>
          </a:xfrm>
          <a:prstGeom prst="rect">
            <a:avLst/>
          </a:prstGeom>
        </p:spPr>
      </p:pic>
    </p:spTree>
    <p:extLst>
      <p:ext uri="{BB962C8B-B14F-4D97-AF65-F5344CB8AC3E}">
        <p14:creationId xmlns:p14="http://schemas.microsoft.com/office/powerpoint/2010/main" val="6629511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A161-1B41-C656-821C-5377290ED3D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4B900FBD-C0B8-24E1-E18D-039B76188A25}"/>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2FABFF0D-94BD-0758-D5CF-416D300AD9A7}"/>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4FAE38CF-7F1D-D5B2-E046-81DF3E5EEB30}"/>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CE5D902B-D82F-F82D-9A4B-C6BB9BDAF195}"/>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8E58CEB4-DFDB-6F82-02B9-82CF5454C0C3}"/>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2016</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C38AB94F-B30C-92B2-53A6-66A72907132D}"/>
              </a:ext>
            </a:extLst>
          </p:cNvPr>
          <p:cNvPicPr>
            <a:picLocks noChangeAspect="1"/>
          </p:cNvPicPr>
          <p:nvPr/>
        </p:nvPicPr>
        <p:blipFill>
          <a:blip r:embed="rId3"/>
          <a:stretch>
            <a:fillRect/>
          </a:stretch>
        </p:blipFill>
        <p:spPr>
          <a:xfrm>
            <a:off x="1600154" y="923531"/>
            <a:ext cx="6853799" cy="834903"/>
          </a:xfrm>
          <a:prstGeom prst="rect">
            <a:avLst/>
          </a:prstGeom>
        </p:spPr>
      </p:pic>
    </p:spTree>
    <p:extLst>
      <p:ext uri="{BB962C8B-B14F-4D97-AF65-F5344CB8AC3E}">
        <p14:creationId xmlns:p14="http://schemas.microsoft.com/office/powerpoint/2010/main" val="207243580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8BFE6-D746-B0EC-A431-E721B00614D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A14173F-6137-35BE-FDBD-7A07B502BE22}"/>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20802E19-B853-970F-4EC1-CF3586761787}"/>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99FD0865-A23A-F110-6341-62310E35F853}"/>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0C7BE54B-504F-F7DB-865D-93C099215941}"/>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F8A205D8-D45D-AE0D-B4C5-870321535BF6}"/>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2017</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D6867836-93C2-6F5F-A484-6E9F4B74D408}"/>
              </a:ext>
            </a:extLst>
          </p:cNvPr>
          <p:cNvPicPr>
            <a:picLocks noChangeAspect="1"/>
          </p:cNvPicPr>
          <p:nvPr/>
        </p:nvPicPr>
        <p:blipFill>
          <a:blip r:embed="rId3"/>
          <a:stretch>
            <a:fillRect/>
          </a:stretch>
        </p:blipFill>
        <p:spPr>
          <a:xfrm>
            <a:off x="1542030" y="924092"/>
            <a:ext cx="8108127" cy="822671"/>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0D9E423-B344-D437-564D-B270830079F8}"/>
                  </a:ext>
                </a:extLst>
              </p:cNvPr>
              <p:cNvSpPr txBox="1"/>
              <p:nvPr/>
            </p:nvSpPr>
            <p:spPr>
              <a:xfrm>
                <a:off x="1474169" y="2086000"/>
                <a:ext cx="3559359" cy="8150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zh-CN" altLang="en-US" i="1" smtClean="0">
                              <a:latin typeface="Cambria Math" panose="02040503050406030204" pitchFamily="18" charset="0"/>
                            </a:rPr>
                          </m:ctrlPr>
                        </m:fPr>
                        <m:num>
                          <m:r>
                            <a:rPr lang="zh-CN" altLang="en-US" i="1">
                              <a:latin typeface="Cambria Math" panose="02040503050406030204" pitchFamily="18" charset="0"/>
                            </a:rPr>
                            <m:t>𝑆𝐷</m:t>
                          </m:r>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b="0" i="1">
                                  <a:latin typeface="Cambria Math" panose="02040503050406030204" pitchFamily="18" charset="0"/>
                                </a:rPr>
                                <m:t>应</m:t>
                              </m:r>
                            </m:sub>
                          </m:sSub>
                        </m:num>
                        <m:den>
                          <m:r>
                            <a:rPr lang="zh-CN" altLang="en-US" b="0" i="1">
                              <a:latin typeface="Cambria Math" panose="02040503050406030204" pitchFamily="18" charset="0"/>
                            </a:rPr>
                            <m:t>𝑃𝐷</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𝑈</m:t>
                              </m:r>
                            </m:e>
                            <m:sub>
                              <m:r>
                                <a:rPr lang="zh-CN" altLang="en-US" b="0" i="1">
                                  <a:latin typeface="Cambria Math" panose="02040503050406030204" pitchFamily="18" charset="0"/>
                                </a:rPr>
                                <m:t>物</m:t>
                              </m:r>
                            </m:sub>
                          </m:sSub>
                        </m:den>
                      </m:f>
                      <m:r>
                        <a:rPr lang="zh-CN" altLang="en-US" b="0" i="0">
                          <a:latin typeface="Cambria Math" panose="02040503050406030204" pitchFamily="18" charset="0"/>
                        </a:rPr>
                        <m:t>=</m:t>
                      </m:r>
                      <m:f>
                        <m:fPr>
                          <m:ctrlPr>
                            <a:rPr lang="zh-CN" altLang="en-US" b="0" i="1">
                              <a:latin typeface="Cambria Math" panose="02040503050406030204" pitchFamily="18" charset="0"/>
                            </a:rPr>
                          </m:ctrlPr>
                        </m:fPr>
                        <m:num>
                          <m:r>
                            <a:rPr lang="zh-CN" altLang="en-US" b="0" i="0">
                              <a:latin typeface="Cambria Math" panose="02040503050406030204" pitchFamily="18" charset="0"/>
                            </a:rPr>
                            <m:t>400</m:t>
                          </m:r>
                          <m:r>
                            <a:rPr lang="zh-CN" altLang="en-US" b="0" i="1">
                              <a:latin typeface="Cambria Math" panose="02040503050406030204" pitchFamily="18" charset="0"/>
                            </a:rPr>
                            <m:t>𝐵</m:t>
                          </m:r>
                        </m:num>
                        <m:den>
                          <m:d>
                            <m:dPr>
                              <m:ctrlPr>
                                <a:rPr lang="zh-CN" altLang="en-US" b="0" i="1">
                                  <a:latin typeface="Cambria Math" panose="02040503050406030204" pitchFamily="18" charset="0"/>
                                </a:rPr>
                              </m:ctrlPr>
                            </m:dPr>
                            <m:e>
                              <m:r>
                                <a:rPr lang="zh-CN" altLang="en-US" b="0" i="0">
                                  <a:latin typeface="Cambria Math" panose="02040503050406030204" pitchFamily="18" charset="0"/>
                                </a:rPr>
                                <m:t>20</m:t>
                              </m:r>
                              <m:r>
                                <a:rPr lang="zh-CN" altLang="en-US" b="0" i="1">
                                  <a:latin typeface="Cambria Math" panose="02040503050406030204" pitchFamily="18" charset="0"/>
                                </a:rPr>
                                <m:t>𝐵</m:t>
                              </m:r>
                              <m:r>
                                <a:rPr lang="zh-CN" altLang="en-US" b="0" i="0">
                                  <a:latin typeface="Cambria Math" panose="02040503050406030204" pitchFamily="18" charset="0"/>
                                </a:rPr>
                                <m:t>×5</m:t>
                              </m:r>
                            </m:e>
                          </m:d>
                          <m:r>
                            <a:rPr lang="zh-CN" altLang="en-US" b="0" i="0">
                              <a:latin typeface="Cambria Math" panose="02040503050406030204" pitchFamily="18" charset="0"/>
                            </a:rPr>
                            <m:t>+400</m:t>
                          </m:r>
                          <m:r>
                            <a:rPr lang="zh-CN" altLang="en-US" b="0" i="1">
                              <a:latin typeface="Cambria Math" panose="02040503050406030204" pitchFamily="18" charset="0"/>
                            </a:rPr>
                            <m:t>𝐵</m:t>
                          </m:r>
                        </m:den>
                      </m:f>
                    </m:oMath>
                  </m:oMathPara>
                </a14:m>
                <a:endParaRPr lang="zh-CN" altLang="en-US" dirty="0"/>
              </a:p>
            </p:txBody>
          </p:sp>
        </mc:Choice>
        <mc:Fallback xmlns="">
          <p:sp>
            <p:nvSpPr>
              <p:cNvPr id="4" name="文本框 3">
                <a:extLst>
                  <a:ext uri="{FF2B5EF4-FFF2-40B4-BE49-F238E27FC236}">
                    <a16:creationId xmlns:a16="http://schemas.microsoft.com/office/drawing/2014/main" id="{40D9E423-B344-D437-564D-B270830079F8}"/>
                  </a:ext>
                </a:extLst>
              </p:cNvPr>
              <p:cNvSpPr txBox="1">
                <a:spLocks noRot="1" noChangeAspect="1" noMove="1" noResize="1" noEditPoints="1" noAdjustHandles="1" noChangeArrowheads="1" noChangeShapeType="1" noTextEdit="1"/>
              </p:cNvSpPr>
              <p:nvPr/>
            </p:nvSpPr>
            <p:spPr>
              <a:xfrm>
                <a:off x="1474169" y="2086000"/>
                <a:ext cx="3559359" cy="815031"/>
              </a:xfrm>
              <a:prstGeom prst="rect">
                <a:avLst/>
              </a:prstGeom>
              <a:blipFill>
                <a:blip r:embed="rId4"/>
                <a:stretch>
                  <a:fillRect/>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B6002EFC-8BBD-71EB-15F4-C1FC6647C9AC}"/>
              </a:ext>
            </a:extLst>
          </p:cNvPr>
          <p:cNvSpPr txBox="1"/>
          <p:nvPr/>
        </p:nvSpPr>
        <p:spPr>
          <a:xfrm>
            <a:off x="1828800" y="3503596"/>
            <a:ext cx="4778872" cy="400110"/>
          </a:xfrm>
          <a:prstGeom prst="rect">
            <a:avLst/>
          </a:prstGeom>
          <a:noFill/>
        </p:spPr>
        <p:txBody>
          <a:bodyPr wrap="none" rtlCol="0">
            <a:spAutoFit/>
          </a:bodyPr>
          <a:lstStyle/>
          <a:p>
            <a:r>
              <a:rPr lang="en-US" altLang="zh-CN" sz="2000" dirty="0">
                <a:latin typeface="Microsoft YaHei UI" panose="020B0503020204020204" pitchFamily="34" charset="-122"/>
                <a:ea typeface="Microsoft YaHei UI" panose="020B0503020204020204" pitchFamily="34" charset="-122"/>
              </a:rPr>
              <a:t>5 = 7-2</a:t>
            </a:r>
            <a:r>
              <a:rPr lang="zh-CN" altLang="en-US" sz="2000" dirty="0">
                <a:latin typeface="Microsoft YaHei UI" panose="020B0503020204020204" pitchFamily="34" charset="-122"/>
                <a:ea typeface="Microsoft YaHei UI" panose="020B0503020204020204" pitchFamily="34" charset="-122"/>
              </a:rPr>
              <a:t> 除去物理和应用 其他都加上</a:t>
            </a:r>
            <a:r>
              <a:rPr lang="en-US" altLang="zh-CN" sz="2000" dirty="0">
                <a:latin typeface="Microsoft YaHei UI" panose="020B0503020204020204" pitchFamily="34" charset="-122"/>
                <a:ea typeface="Microsoft YaHei UI" panose="020B0503020204020204" pitchFamily="34" charset="-122"/>
              </a:rPr>
              <a:t>20B</a:t>
            </a:r>
            <a:endParaRPr lang="zh-CN" altLang="en-US"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67687832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28FE1F-E427-D273-94A7-9C1086E1489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15C3321-EF86-29B6-D372-8A1D15F51998}"/>
              </a:ext>
            </a:extLst>
          </p:cNvPr>
          <p:cNvSpPr>
            <a:spLocks noGrp="1"/>
          </p:cNvSpPr>
          <p:nvPr>
            <p:ph idx="1"/>
          </p:nvPr>
        </p:nvSpPr>
        <p:spPr/>
        <p:txBody>
          <a:bodyPr/>
          <a:lstStyle/>
          <a:p>
            <a:r>
              <a:rPr lang="en-US" altLang="zh-CN" sz="2000" dirty="0">
                <a:latin typeface="Microsoft YaHei UI" panose="020B0503020204020204" pitchFamily="34" charset="-122"/>
                <a:ea typeface="Microsoft YaHei UI" panose="020B0503020204020204" pitchFamily="34" charset="-122"/>
              </a:rPr>
              <a:t>PDU</a:t>
            </a:r>
            <a:r>
              <a:rPr lang="zh-CN" altLang="en-US" sz="2000" dirty="0">
                <a:latin typeface="Microsoft YaHei UI" panose="020B0503020204020204" pitchFamily="34" charset="-122"/>
                <a:ea typeface="Microsoft YaHei UI" panose="020B0503020204020204" pitchFamily="34" charset="-122"/>
              </a:rPr>
              <a:t>（协议数据单元，</a:t>
            </a:r>
            <a:r>
              <a:rPr lang="en-US" altLang="zh-CN" sz="2000" dirty="0">
                <a:latin typeface="Microsoft YaHei UI" panose="020B0503020204020204" pitchFamily="34" charset="-122"/>
                <a:ea typeface="Microsoft YaHei UI" panose="020B0503020204020204" pitchFamily="34" charset="-122"/>
              </a:rPr>
              <a:t>Protocol Data Unit</a:t>
            </a:r>
            <a:r>
              <a:rPr lang="zh-CN" altLang="en-US" sz="2000" dirty="0">
                <a:latin typeface="Microsoft YaHei UI" panose="020B0503020204020204" pitchFamily="34" charset="-122"/>
                <a:ea typeface="Microsoft YaHei UI" panose="020B0503020204020204" pitchFamily="34" charset="-122"/>
              </a:rPr>
              <a:t>） 是指在网络分层架构中，在特定层之间交换的数据单位。简单来说，每一层都有自己独特的“包裹”名称和格式，这个“包裹”就是该层的</a:t>
            </a:r>
            <a:r>
              <a:rPr lang="en-US" altLang="zh-CN" sz="2000" dirty="0">
                <a:latin typeface="Microsoft YaHei UI" panose="020B0503020204020204" pitchFamily="34" charset="-122"/>
                <a:ea typeface="Microsoft YaHei UI" panose="020B0503020204020204" pitchFamily="34" charset="-122"/>
              </a:rPr>
              <a:t>PDU</a:t>
            </a:r>
            <a:r>
              <a:rPr lang="zh-CN" altLang="en-US" sz="2000" dirty="0">
                <a:latin typeface="Microsoft YaHei UI" panose="020B0503020204020204" pitchFamily="34" charset="-122"/>
                <a:ea typeface="Microsoft YaHei UI" panose="020B0503020204020204" pitchFamily="34" charset="-122"/>
              </a:rPr>
              <a:t>。</a:t>
            </a:r>
          </a:p>
          <a:p>
            <a:r>
              <a:rPr lang="zh-CN" altLang="en-US" sz="2000" dirty="0">
                <a:latin typeface="Microsoft YaHei UI" panose="020B0503020204020204" pitchFamily="34" charset="-122"/>
                <a:ea typeface="Microsoft YaHei UI" panose="020B0503020204020204" pitchFamily="34" charset="-122"/>
              </a:rPr>
              <a:t>核心思想：分层封装</a:t>
            </a:r>
          </a:p>
          <a:p>
            <a:r>
              <a:rPr lang="zh-CN" altLang="en-US" sz="2000" dirty="0">
                <a:latin typeface="Microsoft YaHei UI" panose="020B0503020204020204" pitchFamily="34" charset="-122"/>
                <a:ea typeface="Microsoft YaHei UI" panose="020B0503020204020204" pitchFamily="34" charset="-122"/>
              </a:rPr>
              <a:t>网络通信是分层进行的（如</a:t>
            </a:r>
            <a:r>
              <a:rPr lang="en-US" altLang="zh-CN" sz="2000" dirty="0">
                <a:latin typeface="Microsoft YaHei UI" panose="020B0503020204020204" pitchFamily="34" charset="-122"/>
                <a:ea typeface="Microsoft YaHei UI" panose="020B0503020204020204" pitchFamily="34" charset="-122"/>
              </a:rPr>
              <a:t>OSI</a:t>
            </a:r>
            <a:r>
              <a:rPr lang="zh-CN" altLang="en-US" sz="2000" dirty="0">
                <a:latin typeface="Microsoft YaHei UI" panose="020B0503020204020204" pitchFamily="34" charset="-122"/>
                <a:ea typeface="Microsoft YaHei UI" panose="020B0503020204020204" pitchFamily="34" charset="-122"/>
              </a:rPr>
              <a:t>七层模型或</a:t>
            </a:r>
            <a:r>
              <a:rPr lang="en-US" altLang="zh-CN" sz="2000" dirty="0">
                <a:latin typeface="Microsoft YaHei UI" panose="020B0503020204020204" pitchFamily="34" charset="-122"/>
                <a:ea typeface="Microsoft YaHei UI" panose="020B0503020204020204" pitchFamily="34" charset="-122"/>
              </a:rPr>
              <a:t>TCP/IP</a:t>
            </a:r>
            <a:r>
              <a:rPr lang="zh-CN" altLang="en-US" sz="2000" dirty="0">
                <a:latin typeface="Microsoft YaHei UI" panose="020B0503020204020204" pitchFamily="34" charset="-122"/>
                <a:ea typeface="Microsoft YaHei UI" panose="020B0503020204020204" pitchFamily="34" charset="-122"/>
              </a:rPr>
              <a:t>四层模型）。数据从发送端的高层（应用层）向底层（物理层）传递时，每一层都会在上一层的</a:t>
            </a:r>
            <a:r>
              <a:rPr lang="en-US" altLang="zh-CN" sz="2000" dirty="0">
                <a:latin typeface="Microsoft YaHei UI" panose="020B0503020204020204" pitchFamily="34" charset="-122"/>
                <a:ea typeface="Microsoft YaHei UI" panose="020B0503020204020204" pitchFamily="34" charset="-122"/>
              </a:rPr>
              <a:t>PDU</a:t>
            </a:r>
            <a:r>
              <a:rPr lang="zh-CN" altLang="en-US" sz="2000" dirty="0">
                <a:latin typeface="Microsoft YaHei UI" panose="020B0503020204020204" pitchFamily="34" charset="-122"/>
                <a:ea typeface="Microsoft YaHei UI" panose="020B0503020204020204" pitchFamily="34" charset="-122"/>
              </a:rPr>
              <a:t>前加上自己的头部（有时还有尾部），这个过程称为封装。</a:t>
            </a:r>
          </a:p>
          <a:p>
            <a:endParaRPr lang="zh-CN" altLang="en-US" dirty="0"/>
          </a:p>
        </p:txBody>
      </p:sp>
    </p:spTree>
    <p:extLst>
      <p:ext uri="{BB962C8B-B14F-4D97-AF65-F5344CB8AC3E}">
        <p14:creationId xmlns:p14="http://schemas.microsoft.com/office/powerpoint/2010/main" val="126434375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740A9-9912-1FCD-76EF-C196F79C879D}"/>
              </a:ext>
            </a:extLst>
          </p:cNvPr>
          <p:cNvSpPr>
            <a:spLocks noGrp="1"/>
          </p:cNvSpPr>
          <p:nvPr>
            <p:ph type="title"/>
          </p:nvPr>
        </p:nvSpPr>
        <p:spPr/>
        <p:txBody>
          <a:bodyPr/>
          <a:lstStyle/>
          <a:p>
            <a:endParaRPr lang="zh-CN" altLang="en-US"/>
          </a:p>
        </p:txBody>
      </p:sp>
      <p:pic>
        <p:nvPicPr>
          <p:cNvPr id="5" name="内容占位符 4" descr="屏幕的截图&#10;&#10;AI 生成的内容可能不正确。">
            <a:extLst>
              <a:ext uri="{FF2B5EF4-FFF2-40B4-BE49-F238E27FC236}">
                <a16:creationId xmlns:a16="http://schemas.microsoft.com/office/drawing/2014/main" id="{CF90E6C0-04F1-23A0-4C5C-BF9D5548C47B}"/>
              </a:ext>
            </a:extLst>
          </p:cNvPr>
          <p:cNvPicPr>
            <a:picLocks noGrp="1" noChangeAspect="1"/>
          </p:cNvPicPr>
          <p:nvPr>
            <p:ph idx="1"/>
          </p:nvPr>
        </p:nvPicPr>
        <p:blipFill>
          <a:blip r:embed="rId2"/>
          <a:stretch>
            <a:fillRect/>
          </a:stretch>
        </p:blipFill>
        <p:spPr>
          <a:xfrm>
            <a:off x="1434353" y="1817611"/>
            <a:ext cx="9697257" cy="4675264"/>
          </a:xfrm>
          <a:prstGeom prst="rect">
            <a:avLst/>
          </a:prstGeom>
        </p:spPr>
      </p:pic>
    </p:spTree>
    <p:extLst>
      <p:ext uri="{BB962C8B-B14F-4D97-AF65-F5344CB8AC3E}">
        <p14:creationId xmlns:p14="http://schemas.microsoft.com/office/powerpoint/2010/main" val="303243819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F8EC8B-FB6B-595E-AB0E-98C77D12CAE0}"/>
              </a:ext>
            </a:extLst>
          </p:cNvPr>
          <p:cNvSpPr>
            <a:spLocks noGrp="1"/>
          </p:cNvSpPr>
          <p:nvPr>
            <p:ph type="title"/>
          </p:nvPr>
        </p:nvSpPr>
        <p:spPr/>
        <p:txBody>
          <a:bodyPr/>
          <a:lstStyle/>
          <a:p>
            <a:r>
              <a:rPr lang="zh-CN" altLang="en-US" dirty="0"/>
              <a:t>关于有效载荷</a:t>
            </a:r>
          </a:p>
        </p:txBody>
      </p:sp>
      <p:sp>
        <p:nvSpPr>
          <p:cNvPr id="3" name="内容占位符 2">
            <a:extLst>
              <a:ext uri="{FF2B5EF4-FFF2-40B4-BE49-F238E27FC236}">
                <a16:creationId xmlns:a16="http://schemas.microsoft.com/office/drawing/2014/main" id="{892C22FD-DE94-C875-03F8-0108338A1048}"/>
              </a:ext>
            </a:extLst>
          </p:cNvPr>
          <p:cNvSpPr>
            <a:spLocks noGrp="1"/>
          </p:cNvSpPr>
          <p:nvPr>
            <p:ph idx="1"/>
          </p:nvPr>
        </p:nvSpPr>
        <p:spPr>
          <a:xfrm>
            <a:off x="838200" y="1825625"/>
            <a:ext cx="10515600" cy="3006257"/>
          </a:xfrm>
        </p:spPr>
        <p:txBody>
          <a:bodyPr>
            <a:normAutofit/>
          </a:bodyPr>
          <a:lstStyle/>
          <a:p>
            <a:r>
              <a:rPr lang="zh-CN" altLang="en-US" sz="2000" dirty="0">
                <a:latin typeface="Microsoft YaHei UI" panose="020B0503020204020204" pitchFamily="34" charset="-122"/>
                <a:ea typeface="Microsoft YaHei UI" panose="020B0503020204020204" pitchFamily="34" charset="-122"/>
              </a:rPr>
              <a:t>以太网帧的大小范围 </a:t>
            </a:r>
            <a:r>
              <a:rPr lang="en-US" altLang="zh-CN" sz="2000" dirty="0">
                <a:latin typeface="Microsoft YaHei UI" panose="020B0503020204020204" pitchFamily="34" charset="-122"/>
                <a:ea typeface="Microsoft YaHei UI" panose="020B0503020204020204" pitchFamily="34" charset="-122"/>
              </a:rPr>
              <a:t>:</a:t>
            </a:r>
            <a:r>
              <a:rPr lang="zh-CN" altLang="en-US" sz="2000" dirty="0">
                <a:latin typeface="Microsoft YaHei UI" panose="020B0503020204020204" pitchFamily="34" charset="-122"/>
                <a:ea typeface="Microsoft YaHei UI" panose="020B0503020204020204" pitchFamily="34" charset="-122"/>
              </a:rPr>
              <a:t> </a:t>
            </a:r>
            <a:r>
              <a:rPr lang="en-US" altLang="zh-CN" sz="2000" dirty="0">
                <a:latin typeface="Microsoft YaHei UI" panose="020B0503020204020204" pitchFamily="34" charset="-122"/>
                <a:ea typeface="Microsoft YaHei UI" panose="020B0503020204020204" pitchFamily="34" charset="-122"/>
              </a:rPr>
              <a:t>64 </a:t>
            </a:r>
            <a:r>
              <a:rPr lang="zh-CN" altLang="en-US" sz="2000" dirty="0">
                <a:latin typeface="Microsoft YaHei UI" panose="020B0503020204020204" pitchFamily="34" charset="-122"/>
                <a:ea typeface="Microsoft YaHei UI" panose="020B0503020204020204" pitchFamily="34" charset="-122"/>
              </a:rPr>
              <a:t>字节 </a:t>
            </a:r>
            <a:r>
              <a:rPr lang="en-US" altLang="zh-CN" sz="2000" dirty="0">
                <a:latin typeface="Microsoft YaHei UI" panose="020B0503020204020204" pitchFamily="34" charset="-122"/>
                <a:ea typeface="Microsoft YaHei UI" panose="020B0503020204020204" pitchFamily="34" charset="-122"/>
              </a:rPr>
              <a:t>~ 1518 </a:t>
            </a:r>
            <a:r>
              <a:rPr lang="zh-CN" altLang="en-US" sz="2000" dirty="0">
                <a:latin typeface="Microsoft YaHei UI" panose="020B0503020204020204" pitchFamily="34" charset="-122"/>
                <a:ea typeface="Microsoft YaHei UI" panose="020B0503020204020204" pitchFamily="34" charset="-122"/>
              </a:rPr>
              <a:t>字节</a:t>
            </a:r>
            <a:endParaRPr lang="en-US" altLang="zh-CN" sz="2000" dirty="0">
              <a:latin typeface="Microsoft YaHei UI" panose="020B0503020204020204" pitchFamily="34" charset="-122"/>
              <a:ea typeface="Microsoft YaHei UI" panose="020B0503020204020204" pitchFamily="34" charset="-122"/>
            </a:endParaRPr>
          </a:p>
          <a:p>
            <a:pPr lvl="1"/>
            <a:r>
              <a:rPr lang="zh-CN" altLang="en-US" sz="2000" dirty="0">
                <a:latin typeface="Microsoft YaHei UI" panose="020B0503020204020204" pitchFamily="34" charset="-122"/>
                <a:ea typeface="Microsoft YaHei UI" panose="020B0503020204020204" pitchFamily="34" charset="-122"/>
              </a:rPr>
              <a:t>其中包括帧头</a:t>
            </a:r>
            <a:r>
              <a:rPr lang="en-US" altLang="zh-CN" sz="2000" dirty="0">
                <a:latin typeface="Microsoft YaHei UI" panose="020B0503020204020204" pitchFamily="34" charset="-122"/>
                <a:ea typeface="Microsoft YaHei UI" panose="020B0503020204020204" pitchFamily="34" charset="-122"/>
              </a:rPr>
              <a:t>+</a:t>
            </a:r>
            <a:r>
              <a:rPr lang="zh-CN" altLang="en-US" sz="2000" dirty="0">
                <a:latin typeface="Microsoft YaHei UI" panose="020B0503020204020204" pitchFamily="34" charset="-122"/>
                <a:ea typeface="Microsoft YaHei UI" panose="020B0503020204020204" pitchFamily="34" charset="-122"/>
              </a:rPr>
              <a:t>帧尾的 </a:t>
            </a:r>
            <a:r>
              <a:rPr lang="en-US" altLang="zh-CN" sz="2000" dirty="0">
                <a:latin typeface="Microsoft YaHei UI" panose="020B0503020204020204" pitchFamily="34" charset="-122"/>
                <a:ea typeface="Microsoft YaHei UI" panose="020B0503020204020204" pitchFamily="34" charset="-122"/>
              </a:rPr>
              <a:t>18 </a:t>
            </a:r>
            <a:r>
              <a:rPr lang="zh-CN" altLang="en-US" sz="2000" dirty="0">
                <a:latin typeface="Microsoft YaHei UI" panose="020B0503020204020204" pitchFamily="34" charset="-122"/>
                <a:ea typeface="Microsoft YaHei UI" panose="020B0503020204020204" pitchFamily="34" charset="-122"/>
              </a:rPr>
              <a:t>字节</a:t>
            </a:r>
            <a:endParaRPr lang="en-US" altLang="zh-CN" sz="2000" dirty="0">
              <a:latin typeface="Microsoft YaHei UI" panose="020B0503020204020204" pitchFamily="34" charset="-122"/>
              <a:ea typeface="Microsoft YaHei UI" panose="020B0503020204020204" pitchFamily="34" charset="-122"/>
            </a:endParaRPr>
          </a:p>
          <a:p>
            <a:pPr lvl="1"/>
            <a:r>
              <a:rPr lang="en-US" altLang="zh-CN" sz="2000" dirty="0">
                <a:latin typeface="Microsoft YaHei UI" panose="020B0503020204020204" pitchFamily="34" charset="-122"/>
                <a:ea typeface="Microsoft YaHei UI" panose="020B0503020204020204" pitchFamily="34" charset="-122"/>
              </a:rPr>
              <a:t>MTU (</a:t>
            </a:r>
            <a:r>
              <a:rPr lang="zh-CN" altLang="en-US" sz="2000" dirty="0">
                <a:latin typeface="Microsoft YaHei UI" panose="020B0503020204020204" pitchFamily="34" charset="-122"/>
                <a:ea typeface="Microsoft YaHei UI" panose="020B0503020204020204" pitchFamily="34" charset="-122"/>
              </a:rPr>
              <a:t>最大传输单元， </a:t>
            </a:r>
            <a:r>
              <a:rPr lang="en-US" altLang="zh-CN" sz="2000" dirty="0">
                <a:latin typeface="Microsoft YaHei UI" panose="020B0503020204020204" pitchFamily="34" charset="-122"/>
                <a:ea typeface="Microsoft YaHei UI" panose="020B0503020204020204" pitchFamily="34" charset="-122"/>
              </a:rPr>
              <a:t>Maximum Transmission Unit) = 1500</a:t>
            </a:r>
          </a:p>
          <a:p>
            <a:r>
              <a:rPr lang="en-US" altLang="zh-CN" sz="2000" dirty="0">
                <a:latin typeface="Microsoft YaHei UI" panose="020B0503020204020204" pitchFamily="34" charset="-122"/>
                <a:ea typeface="Microsoft YaHei UI" panose="020B0503020204020204" pitchFamily="34" charset="-122"/>
              </a:rPr>
              <a:t>CSMA/CD (</a:t>
            </a:r>
            <a:r>
              <a:rPr lang="zh-CN" altLang="en-US" sz="2000" dirty="0">
                <a:latin typeface="Microsoft YaHei UI" panose="020B0503020204020204" pitchFamily="34" charset="-122"/>
                <a:ea typeface="Microsoft YaHei UI" panose="020B0503020204020204" pitchFamily="34" charset="-122"/>
              </a:rPr>
              <a:t>载波侦听多路访问</a:t>
            </a:r>
            <a:r>
              <a:rPr lang="en-US" altLang="zh-CN" sz="2000" dirty="0">
                <a:latin typeface="Microsoft YaHei UI" panose="020B0503020204020204" pitchFamily="34" charset="-122"/>
                <a:ea typeface="Microsoft YaHei UI" panose="020B0503020204020204" pitchFamily="34" charset="-122"/>
              </a:rPr>
              <a:t>/</a:t>
            </a:r>
            <a:r>
              <a:rPr lang="zh-CN" altLang="en-US" sz="2000" dirty="0">
                <a:latin typeface="Microsoft YaHei UI" panose="020B0503020204020204" pitchFamily="34" charset="-122"/>
                <a:ea typeface="Microsoft YaHei UI" panose="020B0503020204020204" pitchFamily="34" charset="-122"/>
              </a:rPr>
              <a:t>冲突检测</a:t>
            </a:r>
            <a:r>
              <a:rPr lang="en-US" altLang="zh-CN" sz="2000" dirty="0">
                <a:latin typeface="Microsoft YaHei UI" panose="020B0503020204020204" pitchFamily="34" charset="-122"/>
                <a:ea typeface="Microsoft YaHei UI" panose="020B0503020204020204" pitchFamily="34" charset="-122"/>
              </a:rPr>
              <a:t>)</a:t>
            </a:r>
            <a:endParaRPr lang="zh-CN" altLang="en-US" sz="2000" dirty="0">
              <a:latin typeface="Microsoft YaHei UI" panose="020B0503020204020204" pitchFamily="34" charset="-122"/>
              <a:ea typeface="Microsoft YaHei UI" panose="020B0503020204020204" pitchFamily="34" charset="-122"/>
            </a:endParaRPr>
          </a:p>
          <a:p>
            <a:pPr lvl="1"/>
            <a:r>
              <a:rPr lang="zh-CN" altLang="en-US" sz="2000" dirty="0">
                <a:latin typeface="Microsoft YaHei UI" panose="020B0503020204020204" pitchFamily="34" charset="-122"/>
                <a:ea typeface="Microsoft YaHei UI" panose="020B0503020204020204" pitchFamily="34" charset="-122"/>
              </a:rPr>
              <a:t>最小帧长</a:t>
            </a:r>
            <a:r>
              <a:rPr lang="en-US" altLang="zh-CN" sz="2000" dirty="0">
                <a:latin typeface="Microsoft YaHei UI" panose="020B0503020204020204" pitchFamily="34" charset="-122"/>
                <a:ea typeface="Microsoft YaHei UI" panose="020B0503020204020204" pitchFamily="34" charset="-122"/>
              </a:rPr>
              <a:t>64</a:t>
            </a:r>
            <a:r>
              <a:rPr lang="zh-CN" altLang="en-US" sz="2000" dirty="0">
                <a:latin typeface="Microsoft YaHei UI" panose="020B0503020204020204" pitchFamily="34" charset="-122"/>
                <a:ea typeface="Microsoft YaHei UI" panose="020B0503020204020204" pitchFamily="34" charset="-122"/>
              </a:rPr>
              <a:t>字节与此机制直接相关。</a:t>
            </a:r>
          </a:p>
          <a:p>
            <a:pPr lvl="1"/>
            <a:r>
              <a:rPr lang="zh-CN" altLang="en-US" sz="2000" dirty="0">
                <a:latin typeface="Microsoft YaHei UI" panose="020B0503020204020204" pitchFamily="34" charset="-122"/>
                <a:ea typeface="Microsoft YaHei UI" panose="020B0503020204020204" pitchFamily="34" charset="-122"/>
              </a:rPr>
              <a:t>设计原因：确保在最大网络距离内，发送方在发完一帧前，能够检测到是否发生了冲突。</a:t>
            </a:r>
          </a:p>
          <a:p>
            <a:pPr lvl="1"/>
            <a:r>
              <a:rPr lang="zh-CN" altLang="en-US" sz="2000" dirty="0">
                <a:latin typeface="Microsoft YaHei UI" panose="020B0503020204020204" pitchFamily="34" charset="-122"/>
                <a:ea typeface="Microsoft YaHei UI" panose="020B0503020204020204" pitchFamily="34" charset="-122"/>
              </a:rPr>
              <a:t>如果数据部分不足</a:t>
            </a:r>
            <a:r>
              <a:rPr lang="en-US" altLang="zh-CN" sz="2000" dirty="0">
                <a:latin typeface="Microsoft YaHei UI" panose="020B0503020204020204" pitchFamily="34" charset="-122"/>
                <a:ea typeface="Microsoft YaHei UI" panose="020B0503020204020204" pitchFamily="34" charset="-122"/>
              </a:rPr>
              <a:t>46</a:t>
            </a:r>
            <a:r>
              <a:rPr lang="zh-CN" altLang="en-US" sz="2000" dirty="0">
                <a:latin typeface="Microsoft YaHei UI" panose="020B0503020204020204" pitchFamily="34" charset="-122"/>
                <a:ea typeface="Microsoft YaHei UI" panose="020B0503020204020204" pitchFamily="34" charset="-122"/>
              </a:rPr>
              <a:t>字节，必须进行填充以满足最小</a:t>
            </a:r>
            <a:r>
              <a:rPr lang="en-US" altLang="zh-CN" sz="2000" dirty="0">
                <a:latin typeface="Microsoft YaHei UI" panose="020B0503020204020204" pitchFamily="34" charset="-122"/>
                <a:ea typeface="Microsoft YaHei UI" panose="020B0503020204020204" pitchFamily="34" charset="-122"/>
              </a:rPr>
              <a:t>64</a:t>
            </a:r>
            <a:r>
              <a:rPr lang="zh-CN" altLang="en-US" sz="2000" dirty="0">
                <a:latin typeface="Microsoft YaHei UI" panose="020B0503020204020204" pitchFamily="34" charset="-122"/>
                <a:ea typeface="Microsoft YaHei UI" panose="020B0503020204020204" pitchFamily="34" charset="-122"/>
              </a:rPr>
              <a:t>字节的要求，以便冲突检测机制正常工作。</a:t>
            </a:r>
            <a:endParaRPr lang="en-US" altLang="zh-CN" sz="2000" dirty="0">
              <a:latin typeface="Microsoft YaHei UI" panose="020B0503020204020204" pitchFamily="34" charset="-122"/>
              <a:ea typeface="Microsoft YaHei UI" panose="020B0503020204020204" pitchFamily="34" charset="-122"/>
            </a:endParaRPr>
          </a:p>
          <a:p>
            <a:pPr lvl="1"/>
            <a:endParaRPr lang="zh-CN" altLang="en-US" sz="2000" dirty="0">
              <a:latin typeface="Microsoft YaHei UI" panose="020B0503020204020204" pitchFamily="34" charset="-122"/>
              <a:ea typeface="Microsoft YaHei UI" panose="020B0503020204020204" pitchFamily="34" charset="-122"/>
            </a:endParaRPr>
          </a:p>
        </p:txBody>
      </p:sp>
      <p:sp>
        <p:nvSpPr>
          <p:cNvPr id="4" name="文本框 3">
            <a:extLst>
              <a:ext uri="{FF2B5EF4-FFF2-40B4-BE49-F238E27FC236}">
                <a16:creationId xmlns:a16="http://schemas.microsoft.com/office/drawing/2014/main" id="{96DBE9A3-F37D-1C80-EF8A-1C3B95EA13C7}"/>
              </a:ext>
            </a:extLst>
          </p:cNvPr>
          <p:cNvSpPr txBox="1"/>
          <p:nvPr/>
        </p:nvSpPr>
        <p:spPr>
          <a:xfrm>
            <a:off x="838200" y="5292546"/>
            <a:ext cx="9452008" cy="1200329"/>
          </a:xfrm>
          <a:prstGeom prst="rect">
            <a:avLst/>
          </a:prstGeom>
          <a:noFill/>
        </p:spPr>
        <p:txBody>
          <a:bodyPr wrap="square" rtlCol="0">
            <a:spAutoFit/>
          </a:bodyPr>
          <a:lstStyle/>
          <a:p>
            <a:r>
              <a:rPr lang="en-US" altLang="zh-CN" dirty="0">
                <a:latin typeface="Microsoft YaHei UI" panose="020B0503020204020204" pitchFamily="34" charset="-122"/>
                <a:ea typeface="Microsoft YaHei UI" panose="020B0503020204020204" pitchFamily="34" charset="-122"/>
              </a:rPr>
              <a:t>MSS</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Maximum Segment Size</a:t>
            </a:r>
            <a:r>
              <a:rPr lang="zh-CN" altLang="en-US" dirty="0">
                <a:latin typeface="Microsoft YaHei UI" panose="020B0503020204020204" pitchFamily="34" charset="-122"/>
                <a:ea typeface="Microsoft YaHei UI" panose="020B0503020204020204" pitchFamily="34" charset="-122"/>
              </a:rPr>
              <a:t>） 是 </a:t>
            </a:r>
            <a:r>
              <a:rPr lang="en-US" altLang="zh-CN" dirty="0">
                <a:latin typeface="Microsoft YaHei UI" panose="020B0503020204020204" pitchFamily="34" charset="-122"/>
                <a:ea typeface="Microsoft YaHei UI" panose="020B0503020204020204" pitchFamily="34" charset="-122"/>
              </a:rPr>
              <a:t>TCP </a:t>
            </a:r>
            <a:r>
              <a:rPr lang="zh-CN" altLang="en-US" dirty="0">
                <a:latin typeface="Microsoft YaHei UI" panose="020B0503020204020204" pitchFamily="34" charset="-122"/>
                <a:ea typeface="Microsoft YaHei UI" panose="020B0503020204020204" pitchFamily="34" charset="-122"/>
              </a:rPr>
              <a:t>报文段中用于表示数据部分最大长度的字段，位于 </a:t>
            </a:r>
            <a:r>
              <a:rPr lang="en-US" altLang="zh-CN" dirty="0">
                <a:latin typeface="Microsoft YaHei UI" panose="020B0503020204020204" pitchFamily="34" charset="-122"/>
                <a:ea typeface="Microsoft YaHei UI" panose="020B0503020204020204" pitchFamily="34" charset="-122"/>
              </a:rPr>
              <a:t>TCP</a:t>
            </a:r>
            <a:r>
              <a:rPr lang="zh-CN" altLang="en-US" dirty="0">
                <a:latin typeface="Microsoft YaHei UI" panose="020B0503020204020204" pitchFamily="34" charset="-122"/>
                <a:ea typeface="Microsoft YaHei UI" panose="020B0503020204020204" pitchFamily="34" charset="-122"/>
              </a:rPr>
              <a:t>首部的选项字段 中。它的作用是告知通信双方在传输过程中允许的最大数据块大小，从而避免 </a:t>
            </a:r>
            <a:r>
              <a:rPr lang="en-US" altLang="zh-CN" dirty="0">
                <a:latin typeface="Microsoft YaHei UI" panose="020B0503020204020204" pitchFamily="34" charset="-122"/>
                <a:ea typeface="Microsoft YaHei UI" panose="020B0503020204020204" pitchFamily="34" charset="-122"/>
              </a:rPr>
              <a:t>IP </a:t>
            </a:r>
            <a:r>
              <a:rPr lang="zh-CN" altLang="en-US" dirty="0">
                <a:latin typeface="Microsoft YaHei UI" panose="020B0503020204020204" pitchFamily="34" charset="-122"/>
                <a:ea typeface="Microsoft YaHei UI" panose="020B0503020204020204" pitchFamily="34" charset="-122"/>
              </a:rPr>
              <a:t>层的分片，提高传输效率。</a:t>
            </a:r>
          </a:p>
          <a:p>
            <a:endParaRPr lang="zh-CN" altLang="en-US" dirty="0"/>
          </a:p>
        </p:txBody>
      </p:sp>
    </p:spTree>
    <p:extLst>
      <p:ext uri="{BB962C8B-B14F-4D97-AF65-F5344CB8AC3E}">
        <p14:creationId xmlns:p14="http://schemas.microsoft.com/office/powerpoint/2010/main" val="337025267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A6FFB-1B65-D612-BE0A-E084DEEB77F8}"/>
              </a:ext>
            </a:extLst>
          </p:cNvPr>
          <p:cNvSpPr>
            <a:spLocks noGrp="1"/>
          </p:cNvSpPr>
          <p:nvPr>
            <p:ph type="title"/>
          </p:nvPr>
        </p:nvSpPr>
        <p:spPr/>
        <p:txBody>
          <a:bodyPr>
            <a:normAutofit/>
          </a:bodyPr>
          <a:lstStyle/>
          <a:p>
            <a:r>
              <a:rPr lang="zh-CN" altLang="en-US" sz="3200" dirty="0"/>
              <a:t>为什么</a:t>
            </a:r>
            <a:r>
              <a:rPr lang="en-US" altLang="zh-CN" sz="3200" dirty="0"/>
              <a:t>CSMA/CD</a:t>
            </a:r>
            <a:r>
              <a:rPr lang="zh-CN" altLang="en-US" sz="3200" dirty="0"/>
              <a:t>限制了</a:t>
            </a:r>
            <a:r>
              <a:rPr lang="en-US" altLang="zh-CN" sz="3200" dirty="0"/>
              <a:t>64</a:t>
            </a:r>
            <a:endParaRPr lang="zh-CN" altLang="en-US" sz="3200" dirty="0"/>
          </a:p>
        </p:txBody>
      </p:sp>
      <p:sp>
        <p:nvSpPr>
          <p:cNvPr id="3" name="内容占位符 2">
            <a:extLst>
              <a:ext uri="{FF2B5EF4-FFF2-40B4-BE49-F238E27FC236}">
                <a16:creationId xmlns:a16="http://schemas.microsoft.com/office/drawing/2014/main" id="{1A03B187-4E75-7A34-38BD-73FFCC56FCF1}"/>
              </a:ext>
            </a:extLst>
          </p:cNvPr>
          <p:cNvSpPr>
            <a:spLocks noGrp="1"/>
          </p:cNvSpPr>
          <p:nvPr>
            <p:ph idx="1"/>
          </p:nvPr>
        </p:nvSpPr>
        <p:spPr/>
        <p:txBody>
          <a:bodyPr>
            <a:normAutofit/>
          </a:bodyPr>
          <a:lstStyle/>
          <a:p>
            <a:r>
              <a:rPr lang="zh-CN" altLang="en-US" sz="2000" dirty="0">
                <a:hlinkClick r:id="rId2"/>
              </a:rPr>
              <a:t>计网中</a:t>
            </a:r>
            <a:r>
              <a:rPr lang="en-US" altLang="zh-CN" sz="2000" dirty="0">
                <a:hlinkClick r:id="rId2"/>
              </a:rPr>
              <a:t>PDU</a:t>
            </a:r>
            <a:r>
              <a:rPr lang="zh-CN" altLang="en-US" sz="2000" dirty="0">
                <a:hlinkClick r:id="rId2"/>
              </a:rPr>
              <a:t>的概念与应用 </a:t>
            </a:r>
            <a:r>
              <a:rPr lang="en-US" altLang="zh-CN" sz="2000" dirty="0">
                <a:hlinkClick r:id="rId2"/>
              </a:rPr>
              <a:t>– DeepSeek</a:t>
            </a:r>
            <a:endParaRPr lang="en-US" altLang="zh-CN" sz="2000" dirty="0"/>
          </a:p>
          <a:p>
            <a:r>
              <a:rPr lang="zh-CN" altLang="en-US" sz="2000" dirty="0"/>
              <a:t>计算有些复杂 直接记住算了 有时间可以看这个链接的最后一个回答</a:t>
            </a:r>
          </a:p>
        </p:txBody>
      </p:sp>
    </p:spTree>
    <p:extLst>
      <p:ext uri="{BB962C8B-B14F-4D97-AF65-F5344CB8AC3E}">
        <p14:creationId xmlns:p14="http://schemas.microsoft.com/office/powerpoint/2010/main" val="340523637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DFEA2-B6FC-9101-5B1D-79B45A11FF3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409F272-456E-8B2B-FD21-554181857AE3}"/>
              </a:ext>
            </a:extLst>
          </p:cNvPr>
          <p:cNvSpPr>
            <a:spLocks noGrp="1"/>
          </p:cNvSpPr>
          <p:nvPr>
            <p:ph idx="1"/>
          </p:nvPr>
        </p:nvSpPr>
        <p:spPr/>
        <p:txBody>
          <a:bodyPr>
            <a:normAutofit/>
          </a:bodyPr>
          <a:lstStyle/>
          <a:p>
            <a:r>
              <a:rPr lang="zh-CN" altLang="en-US" sz="2200" dirty="0">
                <a:latin typeface="Microsoft YaHei UI" panose="020B0503020204020204" pitchFamily="34" charset="-122"/>
                <a:ea typeface="Microsoft YaHei UI" panose="020B0503020204020204" pitchFamily="34" charset="-122"/>
              </a:rPr>
              <a:t>以太网工作于 </a:t>
            </a:r>
            <a:r>
              <a:rPr lang="en-US" altLang="zh-CN" sz="2200" dirty="0">
                <a:latin typeface="Microsoft YaHei UI" panose="020B0503020204020204" pitchFamily="34" charset="-122"/>
                <a:ea typeface="Microsoft YaHei UI" panose="020B0503020204020204" pitchFamily="34" charset="-122"/>
              </a:rPr>
              <a:t>OSI</a:t>
            </a:r>
            <a:r>
              <a:rPr lang="zh-CN" altLang="en-US" sz="2200" dirty="0">
                <a:latin typeface="Microsoft YaHei UI" panose="020B0503020204020204" pitchFamily="34" charset="-122"/>
                <a:ea typeface="Microsoft YaHei UI" panose="020B0503020204020204" pitchFamily="34" charset="-122"/>
              </a:rPr>
              <a:t>模型的下两层：</a:t>
            </a:r>
          </a:p>
          <a:p>
            <a:r>
              <a:rPr lang="zh-CN" altLang="en-US" sz="2200" dirty="0">
                <a:latin typeface="Microsoft YaHei UI" panose="020B0503020204020204" pitchFamily="34" charset="-122"/>
                <a:ea typeface="Microsoft YaHei UI" panose="020B0503020204020204" pitchFamily="34" charset="-122"/>
              </a:rPr>
              <a:t>数据链路层（核心）：</a:t>
            </a:r>
          </a:p>
          <a:p>
            <a:pPr lvl="1"/>
            <a:r>
              <a:rPr lang="zh-CN" altLang="en-US" sz="2200" dirty="0">
                <a:latin typeface="Microsoft YaHei UI" panose="020B0503020204020204" pitchFamily="34" charset="-122"/>
                <a:ea typeface="Microsoft YaHei UI" panose="020B0503020204020204" pitchFamily="34" charset="-122"/>
              </a:rPr>
              <a:t>以太网的主要协议都在这一层</a:t>
            </a:r>
          </a:p>
          <a:p>
            <a:pPr lvl="1"/>
            <a:r>
              <a:rPr lang="zh-CN" altLang="en-US" sz="2200" dirty="0">
                <a:latin typeface="Microsoft YaHei UI" panose="020B0503020204020204" pitchFamily="34" charset="-122"/>
                <a:ea typeface="Microsoft YaHei UI" panose="020B0503020204020204" pitchFamily="34" charset="-122"/>
              </a:rPr>
              <a:t>定义 帧格式（</a:t>
            </a:r>
            <a:r>
              <a:rPr lang="en-US" altLang="zh-CN" sz="2200" dirty="0">
                <a:latin typeface="Microsoft YaHei UI" panose="020B0503020204020204" pitchFamily="34" charset="-122"/>
                <a:ea typeface="Microsoft YaHei UI" panose="020B0503020204020204" pitchFamily="34" charset="-122"/>
              </a:rPr>
              <a:t>MAC</a:t>
            </a:r>
            <a:r>
              <a:rPr lang="zh-CN" altLang="en-US" sz="2200" dirty="0">
                <a:latin typeface="Microsoft YaHei UI" panose="020B0503020204020204" pitchFamily="34" charset="-122"/>
                <a:ea typeface="Microsoft YaHei UI" panose="020B0503020204020204" pitchFamily="34" charset="-122"/>
              </a:rPr>
              <a:t>地址、帧头尾结构）</a:t>
            </a:r>
          </a:p>
          <a:p>
            <a:pPr lvl="1"/>
            <a:r>
              <a:rPr lang="zh-CN" altLang="en-US" sz="2200" dirty="0">
                <a:latin typeface="Microsoft YaHei UI" panose="020B0503020204020204" pitchFamily="34" charset="-122"/>
                <a:ea typeface="Microsoft YaHei UI" panose="020B0503020204020204" pitchFamily="34" charset="-122"/>
              </a:rPr>
              <a:t>实现 </a:t>
            </a:r>
            <a:r>
              <a:rPr lang="en-US" altLang="zh-CN" sz="2200" dirty="0">
                <a:latin typeface="Microsoft YaHei UI" panose="020B0503020204020204" pitchFamily="34" charset="-122"/>
                <a:ea typeface="Microsoft YaHei UI" panose="020B0503020204020204" pitchFamily="34" charset="-122"/>
              </a:rPr>
              <a:t>MAC</a:t>
            </a:r>
            <a:r>
              <a:rPr lang="zh-CN" altLang="en-US" sz="2200" dirty="0">
                <a:latin typeface="Microsoft YaHei UI" panose="020B0503020204020204" pitchFamily="34" charset="-122"/>
                <a:ea typeface="Microsoft YaHei UI" panose="020B0503020204020204" pitchFamily="34" charset="-122"/>
              </a:rPr>
              <a:t>（介质访问控制） 子层功能</a:t>
            </a:r>
          </a:p>
          <a:p>
            <a:pPr lvl="1"/>
            <a:r>
              <a:rPr lang="zh-CN" altLang="en-US" sz="2200" dirty="0">
                <a:latin typeface="Microsoft YaHei UI" panose="020B0503020204020204" pitchFamily="34" charset="-122"/>
                <a:ea typeface="Microsoft YaHei UI" panose="020B0503020204020204" pitchFamily="34" charset="-122"/>
              </a:rPr>
              <a:t>负责 局域网内设备间的寻址和帧传输</a:t>
            </a:r>
          </a:p>
          <a:p>
            <a:r>
              <a:rPr lang="zh-CN" altLang="en-US" sz="2200" dirty="0">
                <a:latin typeface="Microsoft YaHei UI" panose="020B0503020204020204" pitchFamily="34" charset="-122"/>
                <a:ea typeface="Microsoft YaHei UI" panose="020B0503020204020204" pitchFamily="34" charset="-122"/>
              </a:rPr>
              <a:t>物理层：</a:t>
            </a:r>
          </a:p>
          <a:p>
            <a:pPr lvl="1"/>
            <a:r>
              <a:rPr lang="zh-CN" altLang="en-US" sz="2200" dirty="0">
                <a:latin typeface="Microsoft YaHei UI" panose="020B0503020204020204" pitchFamily="34" charset="-122"/>
                <a:ea typeface="Microsoft YaHei UI" panose="020B0503020204020204" pitchFamily="34" charset="-122"/>
              </a:rPr>
              <a:t>定义 电气特性、信号编码、物理接口</a:t>
            </a:r>
          </a:p>
          <a:p>
            <a:pPr lvl="1"/>
            <a:r>
              <a:rPr lang="zh-CN" altLang="en-US" sz="2200" dirty="0">
                <a:latin typeface="Microsoft YaHei UI" panose="020B0503020204020204" pitchFamily="34" charset="-122"/>
                <a:ea typeface="Microsoft YaHei UI" panose="020B0503020204020204" pitchFamily="34" charset="-122"/>
              </a:rPr>
              <a:t>如：</a:t>
            </a:r>
            <a:r>
              <a:rPr lang="en-US" altLang="zh-CN" sz="2200" dirty="0">
                <a:latin typeface="Microsoft YaHei UI" panose="020B0503020204020204" pitchFamily="34" charset="-122"/>
                <a:ea typeface="Microsoft YaHei UI" panose="020B0503020204020204" pitchFamily="34" charset="-122"/>
              </a:rPr>
              <a:t>10BASE-T</a:t>
            </a:r>
            <a:r>
              <a:rPr lang="zh-CN" altLang="en-US" sz="2200" dirty="0">
                <a:latin typeface="Microsoft YaHei UI" panose="020B0503020204020204" pitchFamily="34" charset="-122"/>
                <a:ea typeface="Microsoft YaHei UI" panose="020B0503020204020204" pitchFamily="34" charset="-122"/>
              </a:rPr>
              <a:t>、</a:t>
            </a:r>
            <a:r>
              <a:rPr lang="en-US" altLang="zh-CN" sz="2200" dirty="0">
                <a:latin typeface="Microsoft YaHei UI" panose="020B0503020204020204" pitchFamily="34" charset="-122"/>
                <a:ea typeface="Microsoft YaHei UI" panose="020B0503020204020204" pitchFamily="34" charset="-122"/>
              </a:rPr>
              <a:t>100BASE-TX </a:t>
            </a:r>
            <a:r>
              <a:rPr lang="zh-CN" altLang="en-US" sz="2200" dirty="0">
                <a:latin typeface="Microsoft YaHei UI" panose="020B0503020204020204" pitchFamily="34" charset="-122"/>
                <a:ea typeface="Microsoft YaHei UI" panose="020B0503020204020204" pitchFamily="34" charset="-122"/>
              </a:rPr>
              <a:t>等具体标准</a:t>
            </a:r>
          </a:p>
          <a:p>
            <a:r>
              <a:rPr lang="en-US" altLang="zh-CN" sz="2200" dirty="0">
                <a:latin typeface="Microsoft YaHei UI" panose="020B0503020204020204" pitchFamily="34" charset="-122"/>
                <a:ea typeface="Microsoft YaHei UI" panose="020B0503020204020204" pitchFamily="34" charset="-122"/>
              </a:rPr>
              <a:t>TCP/IP</a:t>
            </a:r>
            <a:r>
              <a:rPr lang="zh-CN" altLang="en-US" sz="2200" dirty="0">
                <a:latin typeface="Microsoft YaHei UI" panose="020B0503020204020204" pitchFamily="34" charset="-122"/>
                <a:ea typeface="Microsoft YaHei UI" panose="020B0503020204020204" pitchFamily="34" charset="-122"/>
              </a:rPr>
              <a:t>模型中的对应：</a:t>
            </a:r>
          </a:p>
          <a:p>
            <a:r>
              <a:rPr lang="zh-CN" altLang="en-US" sz="2200" dirty="0">
                <a:latin typeface="Microsoft YaHei UI" panose="020B0503020204020204" pitchFamily="34" charset="-122"/>
                <a:ea typeface="Microsoft YaHei UI" panose="020B0503020204020204" pitchFamily="34" charset="-122"/>
              </a:rPr>
              <a:t>数据链路层 </a:t>
            </a:r>
            <a:r>
              <a:rPr lang="en-US" altLang="zh-CN" sz="2200" dirty="0">
                <a:latin typeface="Microsoft YaHei UI" panose="020B0503020204020204" pitchFamily="34" charset="-122"/>
                <a:ea typeface="Microsoft YaHei UI" panose="020B0503020204020204" pitchFamily="34" charset="-122"/>
              </a:rPr>
              <a:t>+ </a:t>
            </a:r>
            <a:r>
              <a:rPr lang="zh-CN" altLang="en-US" sz="2200" dirty="0">
                <a:latin typeface="Microsoft YaHei UI" panose="020B0503020204020204" pitchFamily="34" charset="-122"/>
                <a:ea typeface="Microsoft YaHei UI" panose="020B0503020204020204" pitchFamily="34" charset="-122"/>
              </a:rPr>
              <a:t>物理层 ≈ </a:t>
            </a:r>
            <a:r>
              <a:rPr lang="en-US" altLang="zh-CN" sz="2200" dirty="0">
                <a:latin typeface="Microsoft YaHei UI" panose="020B0503020204020204" pitchFamily="34" charset="-122"/>
                <a:ea typeface="Microsoft YaHei UI" panose="020B0503020204020204" pitchFamily="34" charset="-122"/>
              </a:rPr>
              <a:t>TCP/IP </a:t>
            </a:r>
            <a:r>
              <a:rPr lang="zh-CN" altLang="en-US" sz="2200" dirty="0">
                <a:latin typeface="Microsoft YaHei UI" panose="020B0503020204020204" pitchFamily="34" charset="-122"/>
                <a:ea typeface="Microsoft YaHei UI" panose="020B0503020204020204" pitchFamily="34" charset="-122"/>
              </a:rPr>
              <a:t>的 网络接口层</a:t>
            </a:r>
          </a:p>
          <a:p>
            <a:endParaRPr lang="zh-CN" altLang="en-US" dirty="0"/>
          </a:p>
        </p:txBody>
      </p:sp>
    </p:spTree>
    <p:extLst>
      <p:ext uri="{BB962C8B-B14F-4D97-AF65-F5344CB8AC3E}">
        <p14:creationId xmlns:p14="http://schemas.microsoft.com/office/powerpoint/2010/main" val="18735296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DA33B-07A6-42F4-60E9-FB7FAB9B258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D269AE5-DA7C-9F3A-90C7-F9F8637D6727}"/>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FF3B345E-80D7-4FE7-F107-59A3EBAFFF76}"/>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93521E19-41B3-223C-DBBC-A4AF0E9314C8}"/>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4667A608-E3E4-F333-70E9-9F6EAE9810F2}"/>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21F45479-684B-F83F-FEA4-88762311BE61}"/>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2011</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53F440C0-5202-6A31-6687-53A0DD7DD270}"/>
              </a:ext>
            </a:extLst>
          </p:cNvPr>
          <p:cNvPicPr>
            <a:picLocks noChangeAspect="1"/>
          </p:cNvPicPr>
          <p:nvPr/>
        </p:nvPicPr>
        <p:blipFill>
          <a:blip r:embed="rId3"/>
          <a:stretch>
            <a:fillRect/>
          </a:stretch>
        </p:blipFill>
        <p:spPr>
          <a:xfrm>
            <a:off x="1593059" y="941979"/>
            <a:ext cx="6260074" cy="799939"/>
          </a:xfrm>
          <a:prstGeom prst="rect">
            <a:avLst/>
          </a:prstGeom>
        </p:spPr>
      </p:pic>
    </p:spTree>
    <p:extLst>
      <p:ext uri="{BB962C8B-B14F-4D97-AF65-F5344CB8AC3E}">
        <p14:creationId xmlns:p14="http://schemas.microsoft.com/office/powerpoint/2010/main" val="196466652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E894-7E9A-D065-F078-CA1D9177671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F69A521-3A97-69A0-4ED5-2406CBE93C8F}"/>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09A28265-6341-02D2-E7F6-F61FE6C302AD}"/>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9481191C-00F6-4CF2-BBEE-AD6DD01598BE}"/>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D7A49648-BFF9-F4D8-B44E-C75F2E02DC08}"/>
              </a:ext>
            </a:extLst>
          </p:cNvPr>
          <p:cNvSpPr txBox="1"/>
          <p:nvPr/>
        </p:nvSpPr>
        <p:spPr>
          <a:xfrm>
            <a:off x="1474169" y="123190"/>
            <a:ext cx="6497854"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考点</a:t>
            </a:r>
            <a:r>
              <a:rPr lang="en-US" altLang="zh-CN" sz="2400" spc="100" dirty="0">
                <a:solidFill>
                  <a:srgbClr val="C00000"/>
                </a:solidFill>
                <a:latin typeface="黑体" panose="02010609060101010101" pitchFamily="49" charset="-122"/>
                <a:ea typeface="黑体" panose="02010609060101010101" pitchFamily="49" charset="-122"/>
                <a:cs typeface="庞门正道标题体"/>
              </a:rPr>
              <a:t>3  </a:t>
            </a:r>
            <a:r>
              <a:rPr lang="en-US" altLang="zh-CN" sz="2400" spc="100" dirty="0">
                <a:solidFill>
                  <a:srgbClr val="C00000"/>
                </a:solidFill>
                <a:latin typeface="黑体" panose="02010609060101010101" pitchFamily="49" charset="-122"/>
                <a:ea typeface="黑体" panose="02010609060101010101" pitchFamily="49" charset="-122"/>
              </a:rPr>
              <a:t>ISO/OSI</a:t>
            </a:r>
            <a:r>
              <a:rPr lang="zh-CN" altLang="en-US" sz="2400" spc="100" dirty="0">
                <a:solidFill>
                  <a:srgbClr val="C00000"/>
                </a:solidFill>
                <a:latin typeface="黑体" panose="02010609060101010101" pitchFamily="49" charset="-122"/>
                <a:ea typeface="黑体" panose="02010609060101010101" pitchFamily="49" charset="-122"/>
              </a:rPr>
              <a:t>参考模型和</a:t>
            </a:r>
            <a:r>
              <a:rPr lang="en-US" altLang="zh-CN" sz="2400" spc="100" dirty="0">
                <a:solidFill>
                  <a:srgbClr val="C00000"/>
                </a:solidFill>
                <a:latin typeface="黑体" panose="02010609060101010101" pitchFamily="49" charset="-122"/>
                <a:ea typeface="黑体" panose="02010609060101010101" pitchFamily="49" charset="-122"/>
              </a:rPr>
              <a:t>TCP/IP</a:t>
            </a:r>
            <a:r>
              <a:rPr lang="zh-CN" altLang="en-US" sz="2400" spc="100" dirty="0">
                <a:solidFill>
                  <a:srgbClr val="C00000"/>
                </a:solidFill>
                <a:latin typeface="黑体" panose="02010609060101010101" pitchFamily="49" charset="-122"/>
                <a:ea typeface="黑体" panose="02010609060101010101" pitchFamily="49" charset="-122"/>
              </a:rPr>
              <a:t>模型</a:t>
            </a:r>
          </a:p>
        </p:txBody>
      </p:sp>
      <p:sp>
        <p:nvSpPr>
          <p:cNvPr id="5" name="文本框 4">
            <a:extLst>
              <a:ext uri="{FF2B5EF4-FFF2-40B4-BE49-F238E27FC236}">
                <a16:creationId xmlns:a16="http://schemas.microsoft.com/office/drawing/2014/main" id="{71019137-4F54-6CB4-9768-F74AE7D48BA8}"/>
              </a:ext>
            </a:extLst>
          </p:cNvPr>
          <p:cNvSpPr txBox="1"/>
          <p:nvPr/>
        </p:nvSpPr>
        <p:spPr>
          <a:xfrm>
            <a:off x="656355" y="881626"/>
            <a:ext cx="755250" cy="369332"/>
          </a:xfrm>
          <a:prstGeom prst="rect">
            <a:avLst/>
          </a:prstGeom>
          <a:noFill/>
        </p:spPr>
        <p:txBody>
          <a:bodyPr wrap="square" rtlCol="0">
            <a:spAutoFit/>
          </a:bodyPr>
          <a:lstStyle/>
          <a:p>
            <a:r>
              <a:rPr lang="en-US" altLang="zh-CN" dirty="0">
                <a:solidFill>
                  <a:schemeClr val="accent5">
                    <a:lumMod val="50000"/>
                  </a:schemeClr>
                </a:solidFill>
                <a:latin typeface="微软雅黑" panose="020B0503020204020204" pitchFamily="34" charset="-122"/>
                <a:ea typeface="微软雅黑" panose="020B0503020204020204" pitchFamily="34" charset="-122"/>
              </a:rPr>
              <a:t>2021</a:t>
            </a:r>
            <a:endParaRPr lang="zh-CN" altLang="en-US"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22" name="图片 21">
            <a:extLst>
              <a:ext uri="{FF2B5EF4-FFF2-40B4-BE49-F238E27FC236}">
                <a16:creationId xmlns:a16="http://schemas.microsoft.com/office/drawing/2014/main" id="{1BC2B5FC-9093-5410-D5D2-D5D08176AC43}"/>
              </a:ext>
            </a:extLst>
          </p:cNvPr>
          <p:cNvPicPr>
            <a:picLocks noChangeAspect="1"/>
          </p:cNvPicPr>
          <p:nvPr/>
        </p:nvPicPr>
        <p:blipFill>
          <a:blip r:embed="rId3"/>
          <a:stretch>
            <a:fillRect/>
          </a:stretch>
        </p:blipFill>
        <p:spPr>
          <a:xfrm>
            <a:off x="1581299" y="881626"/>
            <a:ext cx="7151989" cy="869005"/>
          </a:xfrm>
          <a:prstGeom prst="rect">
            <a:avLst/>
          </a:prstGeom>
        </p:spPr>
      </p:pic>
    </p:spTree>
    <p:extLst>
      <p:ext uri="{BB962C8B-B14F-4D97-AF65-F5344CB8AC3E}">
        <p14:creationId xmlns:p14="http://schemas.microsoft.com/office/powerpoint/2010/main" val="314051830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BF9FF-2C81-6DD9-E751-5A45E487C41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A31F339-DAA3-A58D-CB30-622F41983577}"/>
              </a:ext>
            </a:extLst>
          </p:cNvPr>
          <p:cNvGrpSpPr/>
          <p:nvPr/>
        </p:nvGrpSpPr>
        <p:grpSpPr>
          <a:xfrm>
            <a:off x="177800" y="0"/>
            <a:ext cx="1233805" cy="686435"/>
            <a:chOff x="423" y="0"/>
            <a:chExt cx="1943" cy="1081"/>
          </a:xfrm>
        </p:grpSpPr>
        <p:sp>
          <p:nvSpPr>
            <p:cNvPr id="10" name="等腰三角形 9">
              <a:extLst>
                <a:ext uri="{FF2B5EF4-FFF2-40B4-BE49-F238E27FC236}">
                  <a16:creationId xmlns:a16="http://schemas.microsoft.com/office/drawing/2014/main" id="{DC12A211-0B3B-39E4-BC9C-8B3C1A7A5344}"/>
                </a:ext>
              </a:extLst>
            </p:cNvPr>
            <p:cNvSpPr/>
            <p:nvPr/>
          </p:nvSpPr>
          <p:spPr>
            <a:xfrm rot="10800000">
              <a:off x="1053" y="0"/>
              <a:ext cx="1313" cy="919"/>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a:extLst>
                <a:ext uri="{FF2B5EF4-FFF2-40B4-BE49-F238E27FC236}">
                  <a16:creationId xmlns:a16="http://schemas.microsoft.com/office/drawing/2014/main" id="{11AB5B11-4549-9CF3-73CF-11663ABDC87B}"/>
                </a:ext>
              </a:extLst>
            </p:cNvPr>
            <p:cNvSpPr/>
            <p:nvPr/>
          </p:nvSpPr>
          <p:spPr>
            <a:xfrm rot="10800000">
              <a:off x="423" y="0"/>
              <a:ext cx="1494" cy="1081"/>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sp>
        <p:nvSpPr>
          <p:cNvPr id="40" name="文本框 39">
            <a:extLst>
              <a:ext uri="{FF2B5EF4-FFF2-40B4-BE49-F238E27FC236}">
                <a16:creationId xmlns:a16="http://schemas.microsoft.com/office/drawing/2014/main" id="{28C3B7F3-180B-5416-BE61-3D09F758C074}"/>
              </a:ext>
            </a:extLst>
          </p:cNvPr>
          <p:cNvSpPr txBox="1"/>
          <p:nvPr/>
        </p:nvSpPr>
        <p:spPr>
          <a:xfrm>
            <a:off x="1474169" y="123190"/>
            <a:ext cx="6168290" cy="461665"/>
          </a:xfrm>
          <a:prstGeom prst="rect">
            <a:avLst/>
          </a:prstGeom>
          <a:noFill/>
        </p:spPr>
        <p:txBody>
          <a:bodyPr wrap="square" rtlCol="0">
            <a:spAutoFit/>
          </a:bodyPr>
          <a:lstStyle/>
          <a:p>
            <a:r>
              <a:rPr lang="zh-CN" altLang="en-US" sz="2400" spc="100" dirty="0">
                <a:solidFill>
                  <a:srgbClr val="C00000"/>
                </a:solidFill>
                <a:latin typeface="黑体" panose="02010609060101010101" pitchFamily="49" charset="-122"/>
                <a:ea typeface="黑体" panose="02010609060101010101" pitchFamily="49" charset="-122"/>
                <a:cs typeface="庞门正道标题体"/>
              </a:rPr>
              <a:t>复习建议与命题预测</a:t>
            </a:r>
            <a:endParaRPr lang="zh-CN" altLang="en-US" sz="2400" spc="100" dirty="0">
              <a:solidFill>
                <a:srgbClr val="C00000"/>
              </a:solidFill>
              <a:uFillTx/>
              <a:latin typeface="黑体" panose="02010609060101010101" pitchFamily="49" charset="-122"/>
              <a:ea typeface="黑体" panose="02010609060101010101" pitchFamily="49" charset="-122"/>
              <a:cs typeface="庞门正道标题体"/>
            </a:endParaRPr>
          </a:p>
        </p:txBody>
      </p:sp>
      <p:sp>
        <p:nvSpPr>
          <p:cNvPr id="3" name="文本框 2">
            <a:extLst>
              <a:ext uri="{FF2B5EF4-FFF2-40B4-BE49-F238E27FC236}">
                <a16:creationId xmlns:a16="http://schemas.microsoft.com/office/drawing/2014/main" id="{88B21AE9-77D5-587F-4D1C-C892FB6E47DB}"/>
              </a:ext>
            </a:extLst>
          </p:cNvPr>
          <p:cNvSpPr txBox="1"/>
          <p:nvPr/>
        </p:nvSpPr>
        <p:spPr>
          <a:xfrm>
            <a:off x="1175993" y="1391235"/>
            <a:ext cx="11113047" cy="2520049"/>
          </a:xfrm>
          <a:prstGeom prst="rect">
            <a:avLst/>
          </a:prstGeom>
          <a:noFill/>
        </p:spPr>
        <p:txBody>
          <a:bodyPr wrap="square" rtlCol="0">
            <a:spAutoFit/>
          </a:bodyPr>
          <a:lstStyle/>
          <a:p>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本章内容以理解为主，会渗透到其他章节的题目中进行考察。</a:t>
            </a:r>
            <a:endParaRPr lang="en-US" altLang="zh-CN" sz="2400" dirty="0">
              <a:latin typeface="仿宋" panose="02010609060101010101" pitchFamily="49" charset="-122"/>
              <a:ea typeface="仿宋" panose="02010609060101010101" pitchFamily="49" charset="-122"/>
            </a:endParaRPr>
          </a:p>
          <a:p>
            <a:pPr marL="285750" indent="-28575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两个模型是重中之重，需要牢记。</a:t>
            </a:r>
            <a:endParaRPr lang="en-US" altLang="zh-CN" sz="2400" dirty="0">
              <a:latin typeface="仿宋" panose="02010609060101010101" pitchFamily="49" charset="-122"/>
              <a:ea typeface="仿宋" panose="02010609060101010101" pitchFamily="49" charset="-122"/>
            </a:endParaRPr>
          </a:p>
          <a:p>
            <a:pPr marL="285750" indent="-28575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近三年考研都没有直接考第一章的内容，今年很有可能重新出题。</a:t>
            </a:r>
            <a:endParaRPr lang="en-US" altLang="zh-CN" sz="2400" dirty="0">
              <a:latin typeface="仿宋" panose="02010609060101010101" pitchFamily="49" charset="-122"/>
              <a:ea typeface="仿宋" panose="02010609060101010101" pitchFamily="49" charset="-122"/>
            </a:endParaRPr>
          </a:p>
          <a:p>
            <a:pPr marL="285750" indent="-28575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服务、接口相关概念具有考试价值但从未考过，有一定出题概率。</a:t>
            </a:r>
          </a:p>
        </p:txBody>
      </p:sp>
    </p:spTree>
    <p:extLst>
      <p:ext uri="{BB962C8B-B14F-4D97-AF65-F5344CB8AC3E}">
        <p14:creationId xmlns:p14="http://schemas.microsoft.com/office/powerpoint/2010/main" val="207789558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00990" y="287655"/>
            <a:ext cx="11588750" cy="6282055"/>
          </a:xfrm>
          <a:prstGeom prst="rect">
            <a:avLst/>
          </a:prstGeom>
          <a:noFill/>
          <a:ln w="25400">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nvGrpSpPr>
          <p:cNvPr id="9" name="组合 8"/>
          <p:cNvGrpSpPr/>
          <p:nvPr/>
        </p:nvGrpSpPr>
        <p:grpSpPr>
          <a:xfrm rot="10800000">
            <a:off x="-64" y="0"/>
            <a:ext cx="4157409" cy="2136775"/>
            <a:chOff x="-241" y="7052"/>
            <a:chExt cx="7292" cy="3748"/>
          </a:xfrm>
        </p:grpSpPr>
        <p:sp>
          <p:nvSpPr>
            <p:cNvPr id="10" name="等腰三角形 9"/>
            <p:cNvSpPr/>
            <p:nvPr/>
          </p:nvSpPr>
          <p:spPr>
            <a:xfrm>
              <a:off x="316" y="8083"/>
              <a:ext cx="3885" cy="2717"/>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1" name="等腰三角形 10"/>
            <p:cNvSpPr/>
            <p:nvPr/>
          </p:nvSpPr>
          <p:spPr>
            <a:xfrm>
              <a:off x="1692" y="7052"/>
              <a:ext cx="5359" cy="3748"/>
            </a:xfrm>
            <a:prstGeom prst="triangle">
              <a:avLst/>
            </a:prstGeom>
            <a:solidFill>
              <a:srgbClr val="034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2" name="等腰三角形 11"/>
            <p:cNvSpPr/>
            <p:nvPr/>
          </p:nvSpPr>
          <p:spPr>
            <a:xfrm>
              <a:off x="-241" y="7305"/>
              <a:ext cx="4999" cy="3495"/>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grpSp>
        <p:nvGrpSpPr>
          <p:cNvPr id="13" name="组合 12"/>
          <p:cNvGrpSpPr/>
          <p:nvPr/>
        </p:nvGrpSpPr>
        <p:grpSpPr>
          <a:xfrm rot="10800000" flipH="1" flipV="1">
            <a:off x="8342463" y="4721225"/>
            <a:ext cx="3849537" cy="2136775"/>
            <a:chOff x="299" y="7052"/>
            <a:chExt cx="6752" cy="3748"/>
          </a:xfrm>
        </p:grpSpPr>
        <p:sp>
          <p:nvSpPr>
            <p:cNvPr id="14" name="等腰三角形 13"/>
            <p:cNvSpPr/>
            <p:nvPr/>
          </p:nvSpPr>
          <p:spPr>
            <a:xfrm>
              <a:off x="734" y="8376"/>
              <a:ext cx="3466" cy="2424"/>
            </a:xfrm>
            <a:prstGeom prst="triangle">
              <a:avLst/>
            </a:prstGeom>
            <a:solidFill>
              <a:srgbClr val="278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5" name="等腰三角形 14"/>
            <p:cNvSpPr/>
            <p:nvPr/>
          </p:nvSpPr>
          <p:spPr>
            <a:xfrm>
              <a:off x="1692" y="7052"/>
              <a:ext cx="5359" cy="3748"/>
            </a:xfrm>
            <a:prstGeom prst="triangle">
              <a:avLst/>
            </a:prstGeom>
            <a:solidFill>
              <a:srgbClr val="034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sp>
          <p:nvSpPr>
            <p:cNvPr id="16" name="等腰三角形 15"/>
            <p:cNvSpPr/>
            <p:nvPr/>
          </p:nvSpPr>
          <p:spPr>
            <a:xfrm>
              <a:off x="299" y="7682"/>
              <a:ext cx="4458" cy="3118"/>
            </a:xfrm>
            <a:prstGeom prst="triangle">
              <a:avLst/>
            </a:prstGeom>
            <a:noFill/>
            <a:ln w="34925">
              <a:solidFill>
                <a:srgbClr val="2A69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庞门正道标题体"/>
              </a:endParaRPr>
            </a:p>
          </p:txBody>
        </p:sp>
      </p:grpSp>
      <p:grpSp>
        <p:nvGrpSpPr>
          <p:cNvPr id="21" name="组合 20"/>
          <p:cNvGrpSpPr/>
          <p:nvPr/>
        </p:nvGrpSpPr>
        <p:grpSpPr>
          <a:xfrm>
            <a:off x="1849120" y="2488565"/>
            <a:ext cx="8493760" cy="2271395"/>
            <a:chOff x="2912" y="3329"/>
            <a:chExt cx="13376" cy="3577"/>
          </a:xfrm>
        </p:grpSpPr>
        <p:sp>
          <p:nvSpPr>
            <p:cNvPr id="17" name="文本框 16"/>
            <p:cNvSpPr txBox="1"/>
            <p:nvPr/>
          </p:nvSpPr>
          <p:spPr>
            <a:xfrm>
              <a:off x="2912" y="3329"/>
              <a:ext cx="13376" cy="2062"/>
            </a:xfrm>
            <a:prstGeom prst="rect">
              <a:avLst/>
            </a:prstGeom>
            <a:noFill/>
          </p:spPr>
          <p:txBody>
            <a:bodyPr wrap="square" rtlCol="0">
              <a:spAutoFit/>
            </a:bodyPr>
            <a:lstStyle/>
            <a:p>
              <a:pPr algn="ctr">
                <a:lnSpc>
                  <a:spcPct val="120000"/>
                </a:lnSpc>
                <a:spcBef>
                  <a:spcPct val="0"/>
                </a:spcBef>
                <a:spcAft>
                  <a:spcPct val="0"/>
                </a:spcAft>
              </a:pPr>
              <a:r>
                <a:rPr lang="zh-CN" altLang="en-US" sz="6600" spc="300">
                  <a:solidFill>
                    <a:srgbClr val="034E92"/>
                  </a:solidFill>
                  <a:uFillTx/>
                  <a:latin typeface="庞门正道标题体"/>
                  <a:ea typeface="庞门正道标题体"/>
                  <a:cs typeface="庞门正道标题体"/>
                </a:rPr>
                <a:t>感谢您的观看</a:t>
              </a:r>
            </a:p>
          </p:txBody>
        </p:sp>
        <p:sp>
          <p:nvSpPr>
            <p:cNvPr id="23" name="文本框 22"/>
            <p:cNvSpPr txBox="1"/>
            <p:nvPr/>
          </p:nvSpPr>
          <p:spPr>
            <a:xfrm>
              <a:off x="3258" y="5675"/>
              <a:ext cx="12681" cy="1231"/>
            </a:xfrm>
            <a:prstGeom prst="rect">
              <a:avLst/>
            </a:prstGeom>
            <a:noFill/>
          </p:spPr>
          <p:txBody>
            <a:bodyPr wrap="square" rtlCol="0">
              <a:spAutoFit/>
            </a:bodyPr>
            <a:lstStyle/>
            <a:p>
              <a:pPr algn="ctr">
                <a:lnSpc>
                  <a:spcPct val="120000"/>
                </a:lnSpc>
                <a:spcBef>
                  <a:spcPct val="0"/>
                </a:spcBef>
                <a:spcAft>
                  <a:spcPct val="0"/>
                </a:spcAft>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庞门正道标题体"/>
                </a:rPr>
                <a:t>如果觉得对你有帮助的话，还请三连支持一下，非常感谢！</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庞门正道标题体"/>
              </a:endParaRPr>
            </a:p>
            <a:p>
              <a:pPr algn="ctr">
                <a:lnSpc>
                  <a:spcPct val="120000"/>
                </a:lnSpc>
                <a:spcBef>
                  <a:spcPct val="0"/>
                </a:spcBef>
                <a:spcAft>
                  <a:spcPct val="0"/>
                </a:spcAft>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庞门正道标题体"/>
                </a:rPr>
                <a:t>有什么建议或者吐槽，欢迎评论或者私聊</a:t>
              </a:r>
              <a:r>
                <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庞门正道标题体"/>
                </a:rPr>
                <a:t>up</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庞门正道标题体"/>
                </a:rPr>
                <a:t>主，让我们共同进步！</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庞门正道标题体"/>
              </a:endParaRPr>
            </a:p>
          </p:txBody>
        </p:sp>
      </p:grpSp>
      <p:pic>
        <p:nvPicPr>
          <p:cNvPr id="3" name="图片 2">
            <a:extLst>
              <a:ext uri="{FF2B5EF4-FFF2-40B4-BE49-F238E27FC236}">
                <a16:creationId xmlns:a16="http://schemas.microsoft.com/office/drawing/2014/main" id="{9883E389-7339-6B64-9666-24BC38CAF423}"/>
              </a:ext>
            </a:extLst>
          </p:cNvPr>
          <p:cNvPicPr>
            <a:picLocks noChangeAspect="1"/>
          </p:cNvPicPr>
          <p:nvPr/>
        </p:nvPicPr>
        <p:blipFill>
          <a:blip r:embed="rId2"/>
          <a:stretch>
            <a:fillRect/>
          </a:stretch>
        </p:blipFill>
        <p:spPr>
          <a:xfrm>
            <a:off x="9660103" y="332167"/>
            <a:ext cx="2053752" cy="1804608"/>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12"/>
  <p:tag name="AS_OS" val="Microsoft Windows NT 10.0.20348.0"/>
  <p:tag name="AS_RELEASE_DATE" val="2025.01.14"/>
  <p:tag name="AS_TITLE" val="Aspose.Slides for .NET6"/>
  <p:tag name="AS_VERSION" val="25.1"/>
</p:tagLst>
</file>

<file path=ppt/tags/tag2.xml><?xml version="1.0" encoding="utf-8"?>
<p:tagLst xmlns:a="http://schemas.openxmlformats.org/drawingml/2006/main" xmlns:r="http://schemas.openxmlformats.org/officeDocument/2006/relationships" xmlns:p="http://schemas.openxmlformats.org/presentationml/2006/main">
  <p:tag name="ISOPTEXTBOXGROUP" val="true"/>
</p:tagLst>
</file>

<file path=ppt/tags/tag3.xml><?xml version="1.0" encoding="utf-8"?>
<p:tagLst xmlns:a="http://schemas.openxmlformats.org/drawingml/2006/main" xmlns:r="http://schemas.openxmlformats.org/officeDocument/2006/relationships" xmlns:p="http://schemas.openxmlformats.org/presentationml/2006/main">
  <p:tag name="TIMING" val="|39.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庞门正道标题体"/>
        <a:ea typeface="庞门正道标题体"/>
        <a:cs typeface="Arial"/>
        <a:font script="Jpan" typeface="ＭＳ Ｐゴシック"/>
        <a:font script="Hang" typeface="맑은 고딕"/>
        <a:font script="Hans" typeface="仓耳渔阳体 W02"/>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庞门正道标题体"/>
        <a:ea typeface="庞门正道标题体"/>
        <a:cs typeface="Arial"/>
        <a:font script="Jpan" typeface="ＭＳ Ｐゴシック"/>
        <a:font script="Hang" typeface="맑은 고딕"/>
        <a:font script="Hans" typeface="仓耳渔阳体 W02"/>
        <a:font script="Hant" typeface="新細明體"/>
        <a:font script="Arab" typeface="仓耳渔阳体 W02"/>
        <a:font script="Hebr" typeface="仓耳渔阳体 W02"/>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仓耳渔阳体 W02"/>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仓耳渔阳体 W02"/>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庞门正道标题体"/>
        <a:ea typeface="庞门正道标题体"/>
        <a:cs typeface="Arial"/>
        <a:font script="Jpan" typeface="ＭＳ Ｐゴシック"/>
        <a:font script="Hang" typeface="맑은 고딕"/>
        <a:font script="Hans" typeface="仓耳渔阳体 W02"/>
        <a:font script="Hant" typeface="新細明體"/>
        <a:font script="Arab" typeface="仓耳渔阳体 W02"/>
        <a:font script="Hebr" typeface="仓耳渔阳体 W02"/>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仓耳渔阳体 W02"/>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仓耳渔阳体 W02"/>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庞门正道标题体"/>
        <a:ea typeface="庞门正道标题体"/>
        <a:cs typeface="Arial"/>
        <a:font script="Jpan" typeface="ＭＳ Ｐゴシック"/>
        <a:font script="Hang" typeface="맑은 고딕"/>
        <a:font script="Hans" typeface="仓耳渔阳体 W02"/>
        <a:font script="Hant" typeface="新細明體"/>
        <a:font script="Arab" typeface="仓耳渔阳体 W02"/>
        <a:font script="Hebr" typeface="仓耳渔阳体 W02"/>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仓耳渔阳体 W02"/>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911</TotalTime>
  <Words>1416</Words>
  <Application>Microsoft Office PowerPoint</Application>
  <PresentationFormat>宽屏</PresentationFormat>
  <Paragraphs>140</Paragraphs>
  <Slides>19</Slides>
  <Notes>13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Microsoft YaHei UI</vt:lpstr>
      <vt:lpstr>Source Han Sans CN Bold</vt:lpstr>
      <vt:lpstr>仿宋</vt:lpstr>
      <vt:lpstr>黑体</vt:lpstr>
      <vt:lpstr>华文行楷</vt:lpstr>
      <vt:lpstr>楷体</vt:lpstr>
      <vt:lpstr>庞门正道标题体</vt:lpstr>
      <vt:lpstr>微软雅黑</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关于有效载荷</vt:lpstr>
      <vt:lpstr>为什么CSMA/CD限制了64</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dragon sun</cp:lastModifiedBy>
  <cp:revision>22</cp:revision>
  <dcterms:created xsi:type="dcterms:W3CDTF">2021-11-19T08:29:00Z</dcterms:created>
  <dcterms:modified xsi:type="dcterms:W3CDTF">2025-12-10T06:32:19Z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337DC30869ED42DAA843F0EEFBC01960</vt:lpwstr>
  </property>
  <property fmtid="{D5CDD505-2E9C-101B-9397-08002B2CF9AE}" pid="3" name="KSOProductBuildVer">
    <vt:lpwstr>2052-11.1.0.11045</vt:lpwstr>
  </property>
</Properties>
</file>